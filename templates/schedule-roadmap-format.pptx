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Noto Sans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vSyMDxsHKK4Bc2Ijp+Vfb+Hna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font" Target="fonts/Montserrat-regular.fntdata"/><Relationship Id="rId11" Type="http://schemas.openxmlformats.org/officeDocument/2006/relationships/font" Target="fonts/Montserrat-bold.fntdata"/><Relationship Id="rId12" Type="http://schemas.openxmlformats.org/officeDocument/2006/relationships/font" Target="fonts/Montserrat-italic.fntdata"/><Relationship Id="rId13" Type="http://schemas.openxmlformats.org/officeDocument/2006/relationships/font" Target="fonts/Montserrat-boldItalic.fntdata"/><Relationship Id="rId14" Type="http://schemas.openxmlformats.org/officeDocument/2006/relationships/font" Target="fonts/NotoSans-regular.fntdata"/><Relationship Id="rId15" Type="http://schemas.openxmlformats.org/officeDocument/2006/relationships/font" Target="fonts/NotoSans-bold.fntdata"/><Relationship Id="rId16" Type="http://schemas.openxmlformats.org/officeDocument/2006/relationships/font" Target="fonts/NotoSans-italic.fntdata"/><Relationship Id="rId17" Type="http://schemas.openxmlformats.org/officeDocument/2006/relationships/font" Target="fonts/NotoSans-boldItalic.fntdata"/><Relationship Id="rId18" Type="http://schemas.openxmlformats.org/officeDocument/2006/relationships/font" Target="fonts/OpenSans-regular.fntdata"/><Relationship Id="rId19" Type="http://schemas.openxmlformats.org/officeDocument/2006/relationships/font" Target="fonts/OpenSans-bold.fntdata"/><Relationship Id="rId20" Type="http://schemas.openxmlformats.org/officeDocument/2006/relationships/font" Target="fonts/OpenSans-italic.fntdata"/><Relationship Id="rId21" Type="http://schemas.openxmlformats.org/officeDocument/2006/relationships/font" Target="fonts/OpenSans-boldItalic.fntdata"/><Relationship Id="rId2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e920b07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be920b0712_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03fd139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d03fd139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c18135147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cc1813514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c18135147_3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cc18135147_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302825" y="932400"/>
            <a:ext cx="8553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type="title"/>
          </p:nvPr>
        </p:nvSpPr>
        <p:spPr>
          <a:xfrm>
            <a:off x="309025" y="307475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orient="horz" pos="836">
          <p15:clr>
            <a:srgbClr val="6AA84F"/>
          </p15:clr>
        </p15:guide>
        <p15:guide id="4" orient="horz" pos="2844">
          <p15:clr>
            <a:srgbClr val="6AA84F"/>
          </p15:clr>
        </p15:guide>
        <p15:guide id="5" orient="horz" pos="1043">
          <p15:clr>
            <a:srgbClr val="FA7B17"/>
          </p15:clr>
        </p15:guide>
        <p15:guide id="6" orient="horz" pos="1147">
          <p15:clr>
            <a:srgbClr val="FA7B17"/>
          </p15:clr>
        </p15:guide>
        <p15:guide id="7" orient="horz" pos="338">
          <p15:clr>
            <a:srgbClr val="FA7B17"/>
          </p15:clr>
        </p15:guide>
        <p15:guide id="8" orient="horz" pos="1251">
          <p15:clr>
            <a:srgbClr val="FA7B17"/>
          </p15:clr>
        </p15:guide>
        <p15:guide id="9" pos="2779">
          <p15:clr>
            <a:srgbClr val="FA7B17"/>
          </p15:clr>
        </p15:guide>
        <p15:guide id="10" pos="2991">
          <p15:clr>
            <a:srgbClr val="FA7B17"/>
          </p15:clr>
        </p15:guide>
        <p15:guide id="11" pos="2669">
          <p15:clr>
            <a:srgbClr val="6AA84F"/>
          </p15:clr>
        </p15:guide>
        <p15:guide id="12" pos="3092">
          <p15:clr>
            <a:srgbClr val="6AA84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ページ_下階層扉">
  <p:cSld name="OBJECT_1_1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 amt="10000"/>
          </a:blip>
          <a:srcRect b="0" l="0" r="30842" t="0"/>
          <a:stretch/>
        </p:blipFill>
        <p:spPr>
          <a:xfrm>
            <a:off x="4425375" y="49800"/>
            <a:ext cx="4718624" cy="483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>
            <p:ph type="title"/>
          </p:nvPr>
        </p:nvSpPr>
        <p:spPr>
          <a:xfrm>
            <a:off x="302825" y="1777700"/>
            <a:ext cx="8553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Char char="●"/>
              <a:defRPr b="0" i="0" sz="2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subTitle"/>
          </p:nvPr>
        </p:nvSpPr>
        <p:spPr>
          <a:xfrm>
            <a:off x="302825" y="2208875"/>
            <a:ext cx="8553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302825" y="2580900"/>
            <a:ext cx="8553000" cy="18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●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○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■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●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○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■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●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○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■"/>
              <a:defRPr b="0" i="0" sz="1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70">
          <p15:clr>
            <a:srgbClr val="FA7B17"/>
          </p15:clr>
        </p15:guide>
        <p15:guide id="2" pos="2769">
          <p15:clr>
            <a:srgbClr val="FA7B17"/>
          </p15:clr>
        </p15:guide>
        <p15:guide id="3" pos="2991">
          <p15:clr>
            <a:srgbClr val="FA7B17"/>
          </p15:clr>
        </p15:guide>
        <p15:guide id="4" orient="horz" pos="2770">
          <p15:clr>
            <a:srgbClr val="FA7B17"/>
          </p15:clr>
        </p15:guide>
        <p15:guide id="5" orient="horz" pos="1391">
          <p15:clr>
            <a:srgbClr val="FA7B17"/>
          </p15:clr>
        </p15:guide>
        <p15:guide id="6" orient="horz" pos="1157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カラム">
  <p:cSld name="CUSTOM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02825" y="932400"/>
            <a:ext cx="8553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309025" y="307475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orient="horz" pos="2844">
          <p15:clr>
            <a:srgbClr val="6AA84F"/>
          </p15:clr>
        </p15:guide>
        <p15:guide id="4" orient="horz" pos="836">
          <p15:clr>
            <a:srgbClr val="6AA84F"/>
          </p15:clr>
        </p15:guide>
        <p15:guide id="5" pos="2669">
          <p15:clr>
            <a:srgbClr val="6AA84F"/>
          </p15:clr>
        </p15:guide>
        <p15:guide id="6" pos="3091">
          <p15:clr>
            <a:srgbClr val="6AA84F"/>
          </p15:clr>
        </p15:guide>
        <p15:guide id="7" orient="horz" pos="338">
          <p15:clr>
            <a:srgbClr val="FA7B17"/>
          </p15:clr>
        </p15:guide>
        <p15:guide id="8" pos="2991">
          <p15:clr>
            <a:srgbClr val="FA7B17"/>
          </p15:clr>
        </p15:guide>
        <p15:guide id="9" pos="2779">
          <p15:clr>
            <a:srgbClr val="FA7B17"/>
          </p15:clr>
        </p15:guide>
        <p15:guide id="10" orient="horz" pos="1043">
          <p15:clr>
            <a:srgbClr val="FA7B17"/>
          </p15:clr>
        </p15:guide>
        <p15:guide id="11" orient="horz" pos="1147">
          <p15:clr>
            <a:srgbClr val="FA7B17"/>
          </p15:clr>
        </p15:guide>
        <p15:guide id="12" orient="horz" pos="125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特殊2カラム ">
  <p:cSld name="PICTURE_WITH_CAPTION_TEXT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3652500" y="0"/>
            <a:ext cx="5491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4784400"/>
            <a:ext cx="914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© FLUX Inc.　｜　</a:t>
            </a:r>
            <a:r>
              <a:rPr b="0" i="0" lang="en-US" sz="800" u="none" cap="none" strike="noStrike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CONFIDENTIAL</a:t>
            </a:r>
            <a:endParaRPr b="0" i="0" sz="800" u="none" cap="none" strike="noStrike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02825" y="932400"/>
            <a:ext cx="2997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type="title"/>
          </p:nvPr>
        </p:nvSpPr>
        <p:spPr>
          <a:xfrm>
            <a:off x="309025" y="307475"/>
            <a:ext cx="2997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302825" y="1424253"/>
            <a:ext cx="29976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pos="2190">
          <p15:clr>
            <a:srgbClr val="FA7B17"/>
          </p15:clr>
        </p15:guide>
        <p15:guide id="4" pos="2482">
          <p15:clr>
            <a:srgbClr val="FA7B17"/>
          </p15:clr>
        </p15:guide>
        <p15:guide id="5" pos="2079">
          <p15:clr>
            <a:srgbClr val="6AA84F"/>
          </p15:clr>
        </p15:guide>
        <p15:guide id="6" orient="horz" pos="2844">
          <p15:clr>
            <a:srgbClr val="6AA84F"/>
          </p15:clr>
        </p15:guide>
        <p15:guide id="7" orient="horz" pos="836">
          <p15:clr>
            <a:srgbClr val="6AA84F"/>
          </p15:clr>
        </p15:guide>
        <p15:guide id="8" orient="horz" pos="338">
          <p15:clr>
            <a:srgbClr val="6AA84F"/>
          </p15:clr>
        </p15:guide>
        <p15:guide id="9" pos="2301">
          <p15:clr>
            <a:srgbClr val="FA7B17"/>
          </p15:clr>
        </p15:guide>
        <p15:guide id="10" orient="horz" pos="1043">
          <p15:clr>
            <a:srgbClr val="FA7B17"/>
          </p15:clr>
        </p15:guide>
        <p15:guide id="11" orient="horz" pos="1147">
          <p15:clr>
            <a:srgbClr val="FA7B17"/>
          </p15:clr>
        </p15:guide>
        <p15:guide id="12" pos="2582">
          <p15:clr>
            <a:srgbClr val="6AA84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特殊2カラム_左大">
  <p:cSld name="PICTURE_WITH_CAPTION_TEXT_1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5491500" y="0"/>
            <a:ext cx="3652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312300" y="307475"/>
            <a:ext cx="4953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02825" y="932400"/>
            <a:ext cx="4953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302825" y="1424250"/>
            <a:ext cx="49539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pos="3641">
          <p15:clr>
            <a:srgbClr val="FA7B17"/>
          </p15:clr>
        </p15:guide>
        <p15:guide id="4" orient="horz" pos="2844">
          <p15:clr>
            <a:srgbClr val="6AA84F"/>
          </p15:clr>
        </p15:guide>
        <p15:guide id="5" pos="3237">
          <p15:clr>
            <a:srgbClr val="FA7B17"/>
          </p15:clr>
        </p15:guide>
        <p15:guide id="6" orient="horz" pos="836">
          <p15:clr>
            <a:srgbClr val="6AA84F"/>
          </p15:clr>
        </p15:guide>
        <p15:guide id="7" orient="horz" pos="340">
          <p15:clr>
            <a:srgbClr val="6AA84F"/>
          </p15:clr>
        </p15:guide>
        <p15:guide id="8" orient="horz" pos="1043">
          <p15:clr>
            <a:srgbClr val="FA7B17"/>
          </p15:clr>
        </p15:guide>
        <p15:guide id="9" orient="horz" pos="1147">
          <p15:clr>
            <a:srgbClr val="FA7B17"/>
          </p15:clr>
        </p15:guide>
        <p15:guide id="10" pos="3133">
          <p15:clr>
            <a:srgbClr val="6AA84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目次 1">
  <p:cSld name="OBJECT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-75" y="-11575"/>
            <a:ext cx="9162000" cy="516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9"/>
          <p:cNvPicPr preferRelativeResize="0"/>
          <p:nvPr/>
        </p:nvPicPr>
        <p:blipFill rotWithShape="1">
          <a:blip r:embed="rId2">
            <a:alphaModFix amt="40000"/>
          </a:blip>
          <a:srcRect b="0" l="0" r="30842" t="0"/>
          <a:stretch/>
        </p:blipFill>
        <p:spPr>
          <a:xfrm>
            <a:off x="4436950" y="49800"/>
            <a:ext cx="4718624" cy="483902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953450" y="746100"/>
            <a:ext cx="4152000" cy="3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8105450" y="746100"/>
            <a:ext cx="750300" cy="3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●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○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Char char="■"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3" name="Google Shape;43;p9"/>
          <p:cNvSpPr txBox="1"/>
          <p:nvPr/>
        </p:nvSpPr>
        <p:spPr>
          <a:xfrm>
            <a:off x="0" y="4784400"/>
            <a:ext cx="914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© FLUX Inc.　｜　CONFIDENTIAL</a:t>
            </a:r>
            <a:endParaRPr b="0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9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233425" y="4808130"/>
            <a:ext cx="835401" cy="25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>
            <p:ph type="title"/>
          </p:nvPr>
        </p:nvSpPr>
        <p:spPr>
          <a:xfrm>
            <a:off x="302825" y="684268"/>
            <a:ext cx="8553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●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3" type="subTitle"/>
          </p:nvPr>
        </p:nvSpPr>
        <p:spPr>
          <a:xfrm>
            <a:off x="302825" y="1113483"/>
            <a:ext cx="8553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"/>
              <a:buNone/>
              <a:defRPr b="0" i="0" sz="10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6">
          <p15:clr>
            <a:srgbClr val="FA7B17"/>
          </p15:clr>
        </p15:guide>
        <p15:guide id="2" orient="horz" pos="470">
          <p15:clr>
            <a:srgbClr val="FA7B17"/>
          </p15:clr>
        </p15:guide>
        <p15:guide id="3" orient="horz" pos="2771">
          <p15:clr>
            <a:srgbClr val="FA7B17"/>
          </p15:clr>
        </p15:guide>
        <p15:guide id="4" pos="2490">
          <p15:clr>
            <a:srgbClr val="FA7B17"/>
          </p15:clr>
        </p15:guide>
        <p15:guide id="5" orient="horz" pos="68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1">
  <p:cSld name="CUSTOM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02825" y="1161000"/>
            <a:ext cx="8553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309025" y="536075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2" type="subTitle"/>
          </p:nvPr>
        </p:nvSpPr>
        <p:spPr>
          <a:xfrm>
            <a:off x="302950" y="363150"/>
            <a:ext cx="85530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orient="horz" pos="836">
          <p15:clr>
            <a:srgbClr val="6AA84F"/>
          </p15:clr>
        </p15:guide>
        <p15:guide id="4" orient="horz" pos="2844">
          <p15:clr>
            <a:srgbClr val="6AA84F"/>
          </p15:clr>
        </p15:guide>
        <p15:guide id="5" orient="horz" pos="1043">
          <p15:clr>
            <a:srgbClr val="FA7B17"/>
          </p15:clr>
        </p15:guide>
        <p15:guide id="6" orient="horz" pos="1147">
          <p15:clr>
            <a:srgbClr val="FA7B17"/>
          </p15:clr>
        </p15:guide>
        <p15:guide id="7" orient="horz" pos="338">
          <p15:clr>
            <a:srgbClr val="FA7B17"/>
          </p15:clr>
        </p15:guide>
        <p15:guide id="8" orient="horz" pos="1251">
          <p15:clr>
            <a:srgbClr val="FA7B17"/>
          </p15:clr>
        </p15:guide>
        <p15:guide id="9" pos="2779">
          <p15:clr>
            <a:srgbClr val="FA7B17"/>
          </p15:clr>
        </p15:guide>
        <p15:guide id="10" pos="2991">
          <p15:clr>
            <a:srgbClr val="FA7B17"/>
          </p15:clr>
        </p15:guide>
        <p15:guide id="11" pos="2669">
          <p15:clr>
            <a:srgbClr val="6AA84F"/>
          </p15:clr>
        </p15:guide>
        <p15:guide id="12" pos="3092">
          <p15:clr>
            <a:srgbClr val="6AA84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2">
  <p:cSld name="CUSTOM_3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02825" y="1161000"/>
            <a:ext cx="8553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type="title"/>
          </p:nvPr>
        </p:nvSpPr>
        <p:spPr>
          <a:xfrm>
            <a:off x="309025" y="536075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2" type="subTitle"/>
          </p:nvPr>
        </p:nvSpPr>
        <p:spPr>
          <a:xfrm>
            <a:off x="302950" y="363150"/>
            <a:ext cx="85530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orient="horz" pos="836">
          <p15:clr>
            <a:srgbClr val="6AA84F"/>
          </p15:clr>
        </p15:guide>
        <p15:guide id="4" orient="horz" pos="2844">
          <p15:clr>
            <a:srgbClr val="6AA84F"/>
          </p15:clr>
        </p15:guide>
        <p15:guide id="5" orient="horz" pos="1043">
          <p15:clr>
            <a:srgbClr val="FA7B17"/>
          </p15:clr>
        </p15:guide>
        <p15:guide id="6" orient="horz" pos="1147">
          <p15:clr>
            <a:srgbClr val="FA7B17"/>
          </p15:clr>
        </p15:guide>
        <p15:guide id="7" orient="horz" pos="338">
          <p15:clr>
            <a:srgbClr val="FA7B17"/>
          </p15:clr>
        </p15:guide>
        <p15:guide id="8" orient="horz" pos="1251">
          <p15:clr>
            <a:srgbClr val="FA7B17"/>
          </p15:clr>
        </p15:guide>
        <p15:guide id="9" pos="2779">
          <p15:clr>
            <a:srgbClr val="FA7B17"/>
          </p15:clr>
        </p15:guide>
        <p15:guide id="10" pos="2991">
          <p15:clr>
            <a:srgbClr val="FA7B17"/>
          </p15:clr>
        </p15:guide>
        <p15:guide id="11" pos="2669">
          <p15:clr>
            <a:srgbClr val="6AA84F"/>
          </p15:clr>
        </p15:guide>
        <p15:guide id="12" pos="3092">
          <p15:clr>
            <a:srgbClr val="6AA84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3">
  <p:cSld name="TITLE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288000" y="518400"/>
            <a:ext cx="8568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288000" y="1162800"/>
            <a:ext cx="85680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3"/>
          <p:cNvSpPr/>
          <p:nvPr/>
        </p:nvSpPr>
        <p:spPr>
          <a:xfrm>
            <a:off x="0" y="0"/>
            <a:ext cx="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 txBox="1"/>
          <p:nvPr>
            <p:ph idx="2" type="subTitle"/>
          </p:nvPr>
        </p:nvSpPr>
        <p:spPr>
          <a:xfrm>
            <a:off x="279275" y="127675"/>
            <a:ext cx="7676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136000" y="47835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0" wrap="square" tIns="108000">
            <a:normAutofit/>
          </a:bodyPr>
          <a:lstStyle>
            <a:lvl1pPr indent="0" lvl="0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88000" y="4784400"/>
            <a:ext cx="1598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© FLUX Inc.　｜　</a:t>
            </a:r>
            <a:r>
              <a:rPr b="0" i="0" lang="en-US" sz="800" u="none" cap="none" strike="noStrike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CONFIDENTIAL</a:t>
            </a:r>
            <a:endParaRPr b="0" i="0" sz="800" u="none" cap="none" strike="noStrike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2">
          <p15:clr>
            <a:srgbClr val="FA7B17"/>
          </p15:clr>
        </p15:guide>
        <p15:guide id="2" orient="horz" pos="481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4">
  <p:cSld name="TITLE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288000" y="518400"/>
            <a:ext cx="8568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288000" y="1162800"/>
            <a:ext cx="85680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4"/>
          <p:cNvSpPr/>
          <p:nvPr/>
        </p:nvSpPr>
        <p:spPr>
          <a:xfrm>
            <a:off x="0" y="0"/>
            <a:ext cx="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>
            <p:ph idx="2" type="subTitle"/>
          </p:nvPr>
        </p:nvSpPr>
        <p:spPr>
          <a:xfrm>
            <a:off x="279275" y="127675"/>
            <a:ext cx="7676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136000" y="47835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0" wrap="square" tIns="108000">
            <a:normAutofit/>
          </a:bodyPr>
          <a:lstStyle>
            <a:lvl1pPr indent="0" lvl="0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288000" y="4784400"/>
            <a:ext cx="1598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© FLUX Inc.　｜　</a:t>
            </a:r>
            <a:r>
              <a:rPr b="0" i="0" lang="en-US" sz="800" u="none" cap="none" strike="noStrike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CONFIDENTIAL</a:t>
            </a:r>
            <a:endParaRPr b="0" i="0" sz="800" u="none" cap="none" strike="noStrike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2">
          <p15:clr>
            <a:srgbClr val="FA7B17"/>
          </p15:clr>
        </p15:guide>
        <p15:guide id="2" orient="horz" pos="481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5">
  <p:cSld name="CUSTOM_4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02825" y="1161000"/>
            <a:ext cx="8553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09025" y="536075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2" type="subTitle"/>
          </p:nvPr>
        </p:nvSpPr>
        <p:spPr>
          <a:xfrm>
            <a:off x="302950" y="363150"/>
            <a:ext cx="85530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orient="horz" pos="836">
          <p15:clr>
            <a:srgbClr val="6AA84F"/>
          </p15:clr>
        </p15:guide>
        <p15:guide id="4" orient="horz" pos="2844">
          <p15:clr>
            <a:srgbClr val="6AA84F"/>
          </p15:clr>
        </p15:guide>
        <p15:guide id="5" orient="horz" pos="1043">
          <p15:clr>
            <a:srgbClr val="FA7B17"/>
          </p15:clr>
        </p15:guide>
        <p15:guide id="6" orient="horz" pos="1147">
          <p15:clr>
            <a:srgbClr val="FA7B17"/>
          </p15:clr>
        </p15:guide>
        <p15:guide id="7" orient="horz" pos="338">
          <p15:clr>
            <a:srgbClr val="FA7B17"/>
          </p15:clr>
        </p15:guide>
        <p15:guide id="8" orient="horz" pos="1251">
          <p15:clr>
            <a:srgbClr val="FA7B17"/>
          </p15:clr>
        </p15:guide>
        <p15:guide id="9" pos="2779">
          <p15:clr>
            <a:srgbClr val="FA7B17"/>
          </p15:clr>
        </p15:guide>
        <p15:guide id="10" pos="2991">
          <p15:clr>
            <a:srgbClr val="FA7B17"/>
          </p15:clr>
        </p15:guide>
        <p15:guide id="11" pos="2669">
          <p15:clr>
            <a:srgbClr val="6AA84F"/>
          </p15:clr>
        </p15:guide>
        <p15:guide id="12" pos="3092">
          <p15:clr>
            <a:srgbClr val="6AA84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6">
  <p:cSld name="CUSTOM_5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02825" y="1161000"/>
            <a:ext cx="8553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b="1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09025" y="536075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"/>
              <a:buChar char="●"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2" type="subTitle"/>
          </p:nvPr>
        </p:nvSpPr>
        <p:spPr>
          <a:xfrm>
            <a:off x="302950" y="363150"/>
            <a:ext cx="85530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ontserrat"/>
              <a:buNone/>
              <a:defRPr b="0" i="0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31">
          <p15:clr>
            <a:srgbClr val="FA7B17"/>
          </p15:clr>
        </p15:guide>
        <p15:guide id="2" orient="horz" pos="227">
          <p15:clr>
            <a:srgbClr val="FA7B17"/>
          </p15:clr>
        </p15:guide>
        <p15:guide id="3" orient="horz" pos="836">
          <p15:clr>
            <a:srgbClr val="6AA84F"/>
          </p15:clr>
        </p15:guide>
        <p15:guide id="4" orient="horz" pos="2844">
          <p15:clr>
            <a:srgbClr val="6AA84F"/>
          </p15:clr>
        </p15:guide>
        <p15:guide id="5" orient="horz" pos="1043">
          <p15:clr>
            <a:srgbClr val="FA7B17"/>
          </p15:clr>
        </p15:guide>
        <p15:guide id="6" orient="horz" pos="1147">
          <p15:clr>
            <a:srgbClr val="FA7B17"/>
          </p15:clr>
        </p15:guide>
        <p15:guide id="7" orient="horz" pos="338">
          <p15:clr>
            <a:srgbClr val="FA7B17"/>
          </p15:clr>
        </p15:guide>
        <p15:guide id="8" orient="horz" pos="1251">
          <p15:clr>
            <a:srgbClr val="FA7B17"/>
          </p15:clr>
        </p15:guide>
        <p15:guide id="9" pos="2779">
          <p15:clr>
            <a:srgbClr val="FA7B17"/>
          </p15:clr>
        </p15:guide>
        <p15:guide id="10" pos="2991">
          <p15:clr>
            <a:srgbClr val="FA7B17"/>
          </p15:clr>
        </p15:guide>
        <p15:guide id="11" pos="2669">
          <p15:clr>
            <a:srgbClr val="6AA84F"/>
          </p15:clr>
        </p15:guide>
        <p15:guide id="12" pos="3092">
          <p15:clr>
            <a:srgbClr val="6AA84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7">
  <p:cSld name="TITLE_1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88000" y="518400"/>
            <a:ext cx="8568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288000" y="1162800"/>
            <a:ext cx="85680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7"/>
          <p:cNvSpPr/>
          <p:nvPr/>
        </p:nvSpPr>
        <p:spPr>
          <a:xfrm>
            <a:off x="0" y="0"/>
            <a:ext cx="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>
            <p:ph idx="2" type="subTitle"/>
          </p:nvPr>
        </p:nvSpPr>
        <p:spPr>
          <a:xfrm>
            <a:off x="279275" y="127675"/>
            <a:ext cx="7676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136000" y="47835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0" wrap="square" tIns="108000">
            <a:normAutofit/>
          </a:bodyPr>
          <a:lstStyle>
            <a:lvl1pPr indent="0" lvl="0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88000" y="4784400"/>
            <a:ext cx="1598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© FLUX Inc.　｜　</a:t>
            </a:r>
            <a:r>
              <a:rPr b="0" i="0" lang="en-US" sz="800" u="none" cap="none" strike="noStrike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CONFIDENTIAL</a:t>
            </a:r>
            <a:endParaRPr b="0" i="0" sz="800" u="none" cap="none" strike="noStrike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2">
          <p15:clr>
            <a:srgbClr val="FA7B17"/>
          </p15:clr>
        </p15:guide>
        <p15:guide id="2" orient="horz" pos="481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8">
  <p:cSld name="TITLE_1_4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288000" y="518400"/>
            <a:ext cx="8568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288000" y="1162800"/>
            <a:ext cx="85680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8"/>
          <p:cNvSpPr/>
          <p:nvPr/>
        </p:nvSpPr>
        <p:spPr>
          <a:xfrm>
            <a:off x="0" y="0"/>
            <a:ext cx="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idx="2" type="subTitle"/>
          </p:nvPr>
        </p:nvSpPr>
        <p:spPr>
          <a:xfrm>
            <a:off x="279275" y="127675"/>
            <a:ext cx="7676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136000" y="47835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0" wrap="square" tIns="108000">
            <a:normAutofit/>
          </a:bodyPr>
          <a:lstStyle>
            <a:lvl1pPr indent="0" lvl="0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288000" y="4784400"/>
            <a:ext cx="1598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© FLUX Inc.　｜　</a:t>
            </a:r>
            <a:r>
              <a:rPr b="0" i="0" lang="en-US" sz="800" u="none" cap="none" strike="noStrike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CONFIDENTIAL</a:t>
            </a:r>
            <a:endParaRPr b="0" i="0" sz="800" u="none" cap="none" strike="noStrike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2">
          <p15:clr>
            <a:srgbClr val="FA7B17"/>
          </p15:clr>
        </p15:guide>
        <p15:guide id="2" orient="horz" pos="481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カラム 9">
  <p:cSld name="TITLE_1_5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288000" y="518400"/>
            <a:ext cx="8568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288000" y="1162800"/>
            <a:ext cx="85680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9"/>
          <p:cNvSpPr/>
          <p:nvPr/>
        </p:nvSpPr>
        <p:spPr>
          <a:xfrm>
            <a:off x="0" y="0"/>
            <a:ext cx="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 txBox="1"/>
          <p:nvPr>
            <p:ph idx="2" type="subTitle"/>
          </p:nvPr>
        </p:nvSpPr>
        <p:spPr>
          <a:xfrm>
            <a:off x="279275" y="127675"/>
            <a:ext cx="7676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136000" y="47835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80000" spcFirstLastPara="1" rIns="0" wrap="square" tIns="108000">
            <a:normAutofit/>
          </a:bodyPr>
          <a:lstStyle>
            <a:lvl1pPr indent="0" lvl="0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288000" y="4784400"/>
            <a:ext cx="1598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© FLUX Inc.　｜　</a:t>
            </a:r>
            <a:r>
              <a:rPr b="0" i="0" lang="en-US" sz="800" u="none" cap="none" strike="noStrike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CONFIDENTIAL</a:t>
            </a:r>
            <a:endParaRPr b="0" i="0" sz="800" u="none" cap="none" strike="noStrike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2">
          <p15:clr>
            <a:srgbClr val="FA7B17"/>
          </p15:clr>
        </p15:guide>
        <p15:guide id="2" orient="horz" pos="481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"/>
          <p:cNvSpPr txBox="1"/>
          <p:nvPr/>
        </p:nvSpPr>
        <p:spPr>
          <a:xfrm>
            <a:off x="0" y="4784400"/>
            <a:ext cx="914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© FLUX Inc.　｜　</a:t>
            </a:r>
            <a:r>
              <a:rPr b="0" i="0" lang="en-US" sz="800" u="none" cap="none" strike="noStrike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CONFIDENTIAL</a:t>
            </a:r>
            <a:endParaRPr b="0" i="0" sz="800" u="none" cap="none" strike="noStrike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3"/>
          <p:cNvSpPr/>
          <p:nvPr/>
        </p:nvSpPr>
        <p:spPr>
          <a:xfrm>
            <a:off x="0" y="0"/>
            <a:ext cx="54000" cy="514350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0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3425" y="4808130"/>
            <a:ext cx="835401" cy="2594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95">
          <p15:clr>
            <a:srgbClr val="6AA84F"/>
          </p15:clr>
        </p15:guide>
        <p15:guide id="2" pos="5478">
          <p15:clr>
            <a:srgbClr val="6AA84F"/>
          </p15:clr>
        </p15:guide>
        <p15:guide id="3" orient="horz" pos="2948">
          <p15:clr>
            <a:srgbClr val="EA4335"/>
          </p15:clr>
        </p15:guide>
        <p15:guide id="4" pos="2880">
          <p15:clr>
            <a:schemeClr val="lt2"/>
          </p15:clr>
        </p15:guide>
        <p15:guide id="5" orient="horz" pos="1626">
          <p15:clr>
            <a:schemeClr val="lt2"/>
          </p15:clr>
        </p15:guide>
        <p15:guide id="6" pos="191">
          <p15:clr>
            <a:srgbClr val="CC0000"/>
          </p15:clr>
        </p15:guide>
        <p15:guide id="7" pos="5578">
          <p15:clr>
            <a:srgbClr val="CC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8d9ryjw4bYINoYJTQCa9hxf4hK2kBiTJ/edit?gid=1234667563#gid=1234667563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p.asana.com/1/1199121590062686/project/1211473418312413/board/121147534882454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e920b0712_1_0"/>
          <p:cNvSpPr/>
          <p:nvPr/>
        </p:nvSpPr>
        <p:spPr>
          <a:xfrm>
            <a:off x="210312" y="100584"/>
            <a:ext cx="8714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〇〇〇〇 全体スケジュール（20XX年X月〜X月）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be920b0712_1_0"/>
          <p:cNvSpPr/>
          <p:nvPr/>
        </p:nvSpPr>
        <p:spPr>
          <a:xfrm>
            <a:off x="201168" y="356616"/>
            <a:ext cx="3429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1" lang="en-US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※詳細タスクはXXXツールボードで管理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be920b0712_1_0"/>
          <p:cNvSpPr/>
          <p:nvPr/>
        </p:nvSpPr>
        <p:spPr>
          <a:xfrm>
            <a:off x="1371592" y="576075"/>
            <a:ext cx="7543800" cy="347100"/>
          </a:xfrm>
          <a:prstGeom prst="rect">
            <a:avLst/>
          </a:prstGeom>
          <a:solidFill>
            <a:srgbClr val="2E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be920b0712_1_0"/>
          <p:cNvSpPr/>
          <p:nvPr/>
        </p:nvSpPr>
        <p:spPr>
          <a:xfrm>
            <a:off x="1371592" y="576075"/>
            <a:ext cx="8727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be920b0712_1_0"/>
          <p:cNvSpPr/>
          <p:nvPr/>
        </p:nvSpPr>
        <p:spPr>
          <a:xfrm>
            <a:off x="2244430" y="576075"/>
            <a:ext cx="966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g3be920b0712_1_0"/>
          <p:cNvCxnSpPr/>
          <p:nvPr/>
        </p:nvCxnSpPr>
        <p:spPr>
          <a:xfrm>
            <a:off x="2244430" y="576075"/>
            <a:ext cx="900" cy="4163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g3be920b0712_1_0"/>
          <p:cNvSpPr/>
          <p:nvPr/>
        </p:nvSpPr>
        <p:spPr>
          <a:xfrm>
            <a:off x="3210786" y="576075"/>
            <a:ext cx="935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g3be920b0712_1_0"/>
          <p:cNvCxnSpPr/>
          <p:nvPr/>
        </p:nvCxnSpPr>
        <p:spPr>
          <a:xfrm>
            <a:off x="3210786" y="576075"/>
            <a:ext cx="900" cy="4163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g3be920b0712_1_0"/>
          <p:cNvSpPr/>
          <p:nvPr/>
        </p:nvSpPr>
        <p:spPr>
          <a:xfrm>
            <a:off x="4145970" y="576075"/>
            <a:ext cx="966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g3be920b0712_1_0"/>
          <p:cNvCxnSpPr/>
          <p:nvPr/>
        </p:nvCxnSpPr>
        <p:spPr>
          <a:xfrm>
            <a:off x="4145970" y="576075"/>
            <a:ext cx="900" cy="4163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g3be920b0712_1_0"/>
          <p:cNvSpPr/>
          <p:nvPr/>
        </p:nvSpPr>
        <p:spPr>
          <a:xfrm>
            <a:off x="5112326" y="576075"/>
            <a:ext cx="935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g3be920b0712_1_0"/>
          <p:cNvCxnSpPr/>
          <p:nvPr/>
        </p:nvCxnSpPr>
        <p:spPr>
          <a:xfrm>
            <a:off x="5112326" y="576075"/>
            <a:ext cx="900" cy="4163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g3be920b0712_1_0"/>
          <p:cNvSpPr/>
          <p:nvPr/>
        </p:nvSpPr>
        <p:spPr>
          <a:xfrm>
            <a:off x="6047509" y="576075"/>
            <a:ext cx="966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g3be920b0712_1_0"/>
          <p:cNvCxnSpPr/>
          <p:nvPr/>
        </p:nvCxnSpPr>
        <p:spPr>
          <a:xfrm>
            <a:off x="6047509" y="576075"/>
            <a:ext cx="900" cy="4163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g3be920b0712_1_0"/>
          <p:cNvSpPr/>
          <p:nvPr/>
        </p:nvSpPr>
        <p:spPr>
          <a:xfrm>
            <a:off x="7013866" y="576075"/>
            <a:ext cx="966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g3be920b0712_1_0"/>
          <p:cNvCxnSpPr/>
          <p:nvPr/>
        </p:nvCxnSpPr>
        <p:spPr>
          <a:xfrm>
            <a:off x="7013866" y="576075"/>
            <a:ext cx="900" cy="4163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g3be920b0712_1_0"/>
          <p:cNvSpPr/>
          <p:nvPr/>
        </p:nvSpPr>
        <p:spPr>
          <a:xfrm>
            <a:off x="7980222" y="576075"/>
            <a:ext cx="935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9月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g3be920b0712_1_0"/>
          <p:cNvCxnSpPr/>
          <p:nvPr/>
        </p:nvCxnSpPr>
        <p:spPr>
          <a:xfrm>
            <a:off x="7980222" y="576075"/>
            <a:ext cx="900" cy="4163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g3be920b0712_1_0"/>
          <p:cNvSpPr/>
          <p:nvPr/>
        </p:nvSpPr>
        <p:spPr>
          <a:xfrm>
            <a:off x="137150" y="576075"/>
            <a:ext cx="1170300" cy="347100"/>
          </a:xfrm>
          <a:prstGeom prst="rect">
            <a:avLst/>
          </a:prstGeom>
          <a:solidFill>
            <a:srgbClr val="2E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be920b0712_1_0"/>
          <p:cNvSpPr/>
          <p:nvPr/>
        </p:nvSpPr>
        <p:spPr>
          <a:xfrm>
            <a:off x="137150" y="576075"/>
            <a:ext cx="1170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カテゴリ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be920b0712_1_0"/>
          <p:cNvSpPr/>
          <p:nvPr/>
        </p:nvSpPr>
        <p:spPr>
          <a:xfrm>
            <a:off x="137150" y="974080"/>
            <a:ext cx="8842200" cy="602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be920b0712_1_0"/>
          <p:cNvSpPr/>
          <p:nvPr/>
        </p:nvSpPr>
        <p:spPr>
          <a:xfrm>
            <a:off x="137150" y="974080"/>
            <a:ext cx="1170300" cy="6021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be920b0712_1_0"/>
          <p:cNvSpPr/>
          <p:nvPr/>
        </p:nvSpPr>
        <p:spPr>
          <a:xfrm>
            <a:off x="137150" y="974080"/>
            <a:ext cx="54900" cy="602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e920b0712_1_0"/>
          <p:cNvSpPr/>
          <p:nvPr/>
        </p:nvSpPr>
        <p:spPr>
          <a:xfrm>
            <a:off x="237734" y="974080"/>
            <a:ext cx="1033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マイル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be920b0712_1_0"/>
          <p:cNvSpPr/>
          <p:nvPr/>
        </p:nvSpPr>
        <p:spPr>
          <a:xfrm>
            <a:off x="2136365" y="1127772"/>
            <a:ext cx="91500" cy="1020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be920b0712_1_0"/>
          <p:cNvSpPr/>
          <p:nvPr/>
        </p:nvSpPr>
        <p:spPr>
          <a:xfrm>
            <a:off x="1702024" y="1240030"/>
            <a:ext cx="960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β版リリース(M/DD)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be920b0712_1_0"/>
          <p:cNvSpPr/>
          <p:nvPr/>
        </p:nvSpPr>
        <p:spPr>
          <a:xfrm>
            <a:off x="2946857" y="1127772"/>
            <a:ext cx="91500" cy="1020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be920b0712_1_0"/>
          <p:cNvSpPr/>
          <p:nvPr/>
        </p:nvSpPr>
        <p:spPr>
          <a:xfrm>
            <a:off x="2512516" y="1240030"/>
            <a:ext cx="960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イベント告知(M/DD)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be920b0712_1_0"/>
          <p:cNvSpPr/>
          <p:nvPr/>
        </p:nvSpPr>
        <p:spPr>
          <a:xfrm>
            <a:off x="4069077" y="1127772"/>
            <a:ext cx="91500" cy="1020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be920b0712_1_0"/>
          <p:cNvSpPr/>
          <p:nvPr/>
        </p:nvSpPr>
        <p:spPr>
          <a:xfrm>
            <a:off x="3634736" y="1240030"/>
            <a:ext cx="960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β版機能拡張(M/DD)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be920b0712_1_0"/>
          <p:cNvSpPr/>
          <p:nvPr/>
        </p:nvSpPr>
        <p:spPr>
          <a:xfrm>
            <a:off x="5347161" y="1127772"/>
            <a:ext cx="91500" cy="1020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be920b0712_1_0"/>
          <p:cNvSpPr/>
          <p:nvPr/>
        </p:nvSpPr>
        <p:spPr>
          <a:xfrm>
            <a:off x="4912820" y="1240030"/>
            <a:ext cx="960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正式版リリース(M/DD)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be920b0712_1_0"/>
          <p:cNvSpPr/>
          <p:nvPr/>
        </p:nvSpPr>
        <p:spPr>
          <a:xfrm>
            <a:off x="7248700" y="1127772"/>
            <a:ext cx="91500" cy="1020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be920b0712_1_0"/>
          <p:cNvSpPr/>
          <p:nvPr/>
        </p:nvSpPr>
        <p:spPr>
          <a:xfrm>
            <a:off x="6814360" y="1240030"/>
            <a:ext cx="960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正式版機能拡張(M/DD)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be920b0712_1_0"/>
          <p:cNvSpPr/>
          <p:nvPr/>
        </p:nvSpPr>
        <p:spPr>
          <a:xfrm>
            <a:off x="8744994" y="1127772"/>
            <a:ext cx="91500" cy="1020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be920b0712_1_0"/>
          <p:cNvSpPr/>
          <p:nvPr/>
        </p:nvSpPr>
        <p:spPr>
          <a:xfrm>
            <a:off x="8310653" y="1240030"/>
            <a:ext cx="960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メインイベント(M/DD)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be920b0712_1_0"/>
          <p:cNvSpPr/>
          <p:nvPr/>
        </p:nvSpPr>
        <p:spPr>
          <a:xfrm>
            <a:off x="137150" y="1576191"/>
            <a:ext cx="1170300" cy="693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be920b0712_1_0"/>
          <p:cNvSpPr/>
          <p:nvPr/>
        </p:nvSpPr>
        <p:spPr>
          <a:xfrm>
            <a:off x="137150" y="1576191"/>
            <a:ext cx="54900" cy="693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be920b0712_1_0"/>
          <p:cNvSpPr/>
          <p:nvPr/>
        </p:nvSpPr>
        <p:spPr>
          <a:xfrm>
            <a:off x="237734" y="1576191"/>
            <a:ext cx="10332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開発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be920b0712_1_0"/>
          <p:cNvSpPr/>
          <p:nvPr/>
        </p:nvSpPr>
        <p:spPr>
          <a:xfrm>
            <a:off x="1371592" y="1698654"/>
            <a:ext cx="810600" cy="244800"/>
          </a:xfrm>
          <a:prstGeom prst="roundRect">
            <a:avLst>
              <a:gd fmla="val 1250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be920b0712_1_0"/>
          <p:cNvSpPr/>
          <p:nvPr/>
        </p:nvSpPr>
        <p:spPr>
          <a:xfrm>
            <a:off x="1408168" y="1698654"/>
            <a:ext cx="737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 開発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be920b0712_1_0"/>
          <p:cNvSpPr/>
          <p:nvPr/>
        </p:nvSpPr>
        <p:spPr>
          <a:xfrm>
            <a:off x="2244430" y="1698654"/>
            <a:ext cx="1870500" cy="244800"/>
          </a:xfrm>
          <a:prstGeom prst="roundRect">
            <a:avLst>
              <a:gd fmla="val 1250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be920b0712_1_0"/>
          <p:cNvSpPr/>
          <p:nvPr/>
        </p:nvSpPr>
        <p:spPr>
          <a:xfrm>
            <a:off x="2281006" y="1698654"/>
            <a:ext cx="17973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 開発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be920b0712_1_0"/>
          <p:cNvSpPr/>
          <p:nvPr/>
        </p:nvSpPr>
        <p:spPr>
          <a:xfrm>
            <a:off x="4145970" y="1698654"/>
            <a:ext cx="1246800" cy="244800"/>
          </a:xfrm>
          <a:prstGeom prst="roundRect">
            <a:avLst>
              <a:gd fmla="val 1250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be920b0712_1_0"/>
          <p:cNvSpPr/>
          <p:nvPr/>
        </p:nvSpPr>
        <p:spPr>
          <a:xfrm>
            <a:off x="4182546" y="1698654"/>
            <a:ext cx="1173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3 開発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be920b0712_1_0"/>
          <p:cNvSpPr/>
          <p:nvPr/>
        </p:nvSpPr>
        <p:spPr>
          <a:xfrm>
            <a:off x="5424054" y="1698654"/>
            <a:ext cx="3366600" cy="244800"/>
          </a:xfrm>
          <a:prstGeom prst="roundRect">
            <a:avLst>
              <a:gd fmla="val 1250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be920b0712_1_0"/>
          <p:cNvSpPr/>
          <p:nvPr/>
        </p:nvSpPr>
        <p:spPr>
          <a:xfrm>
            <a:off x="5460630" y="1698654"/>
            <a:ext cx="3293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4 開発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be920b0712_1_0"/>
          <p:cNvSpPr/>
          <p:nvPr/>
        </p:nvSpPr>
        <p:spPr>
          <a:xfrm>
            <a:off x="137150" y="2270148"/>
            <a:ext cx="8842200" cy="139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be920b0712_1_0"/>
          <p:cNvSpPr/>
          <p:nvPr/>
        </p:nvSpPr>
        <p:spPr>
          <a:xfrm>
            <a:off x="137150" y="2270148"/>
            <a:ext cx="1170300" cy="1398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be920b0712_1_0"/>
          <p:cNvSpPr/>
          <p:nvPr/>
        </p:nvSpPr>
        <p:spPr>
          <a:xfrm>
            <a:off x="137150" y="2270148"/>
            <a:ext cx="54900" cy="139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be920b0712_1_0"/>
          <p:cNvSpPr/>
          <p:nvPr/>
        </p:nvSpPr>
        <p:spPr>
          <a:xfrm>
            <a:off x="237734" y="2270148"/>
            <a:ext cx="10332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渉外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be920b0712_1_0"/>
          <p:cNvSpPr/>
          <p:nvPr/>
        </p:nvSpPr>
        <p:spPr>
          <a:xfrm>
            <a:off x="1371592" y="2392611"/>
            <a:ext cx="3709500" cy="244800"/>
          </a:xfrm>
          <a:prstGeom prst="roundRect">
            <a:avLst>
              <a:gd fmla="val 12500" name="adj"/>
            </a:avLst>
          </a:prstGeom>
          <a:solidFill>
            <a:srgbClr val="ED7D31">
              <a:alpha val="20000"/>
            </a:srgbClr>
          </a:solidFill>
          <a:ln cap="flat" cmpd="sng" w="19050">
            <a:solidFill>
              <a:srgbClr val="ED7D3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be920b0712_1_0"/>
          <p:cNvSpPr/>
          <p:nvPr/>
        </p:nvSpPr>
        <p:spPr>
          <a:xfrm>
            <a:off x="1408168" y="2392611"/>
            <a:ext cx="36363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パートナー営業（継続募集）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be920b0712_1_0"/>
          <p:cNvSpPr/>
          <p:nvPr/>
        </p:nvSpPr>
        <p:spPr>
          <a:xfrm>
            <a:off x="2244430" y="2688563"/>
            <a:ext cx="935100" cy="244800"/>
          </a:xfrm>
          <a:prstGeom prst="roundRect">
            <a:avLst>
              <a:gd fmla="val 12500" name="adj"/>
            </a:avLst>
          </a:prstGeom>
          <a:solidFill>
            <a:srgbClr val="F4B183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be920b0712_1_0"/>
          <p:cNvSpPr/>
          <p:nvPr/>
        </p:nvSpPr>
        <p:spPr>
          <a:xfrm>
            <a:off x="2281006" y="2688563"/>
            <a:ext cx="861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主要パートナーへの案内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be920b0712_1_0"/>
          <p:cNvSpPr/>
          <p:nvPr/>
        </p:nvSpPr>
        <p:spPr>
          <a:xfrm>
            <a:off x="2244422" y="2984525"/>
            <a:ext cx="2836800" cy="244800"/>
          </a:xfrm>
          <a:prstGeom prst="roundRect">
            <a:avLst>
              <a:gd fmla="val 12500" name="adj"/>
            </a:avLst>
          </a:prstGeom>
          <a:solidFill>
            <a:srgbClr val="F4B183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be920b0712_1_0"/>
          <p:cNvSpPr/>
          <p:nvPr/>
        </p:nvSpPr>
        <p:spPr>
          <a:xfrm>
            <a:off x="2299891" y="2984525"/>
            <a:ext cx="2725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XXXサービス登録ユーザー</a:t>
            </a:r>
            <a:endParaRPr b="1" i="0" sz="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（Phase2リリース以降にマイページを用いて再送）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be920b0712_1_0"/>
          <p:cNvSpPr/>
          <p:nvPr/>
        </p:nvSpPr>
        <p:spPr>
          <a:xfrm>
            <a:off x="2244430" y="3280468"/>
            <a:ext cx="6639900" cy="244800"/>
          </a:xfrm>
          <a:prstGeom prst="roundRect">
            <a:avLst>
              <a:gd fmla="val 12500" name="adj"/>
            </a:avLst>
          </a:prstGeom>
          <a:solidFill>
            <a:srgbClr val="F4B183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be920b0712_1_0"/>
          <p:cNvSpPr/>
          <p:nvPr/>
        </p:nvSpPr>
        <p:spPr>
          <a:xfrm>
            <a:off x="2281006" y="3280468"/>
            <a:ext cx="65667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一般パートナー・ユーザー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be920b0712_1_0"/>
          <p:cNvSpPr/>
          <p:nvPr/>
        </p:nvSpPr>
        <p:spPr>
          <a:xfrm>
            <a:off x="137150" y="3668268"/>
            <a:ext cx="1170300" cy="1081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be920b0712_1_0"/>
          <p:cNvSpPr/>
          <p:nvPr/>
        </p:nvSpPr>
        <p:spPr>
          <a:xfrm>
            <a:off x="137150" y="3668268"/>
            <a:ext cx="54900" cy="1081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e920b0712_1_0"/>
          <p:cNvSpPr/>
          <p:nvPr/>
        </p:nvSpPr>
        <p:spPr>
          <a:xfrm>
            <a:off x="237734" y="3668268"/>
            <a:ext cx="10332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プロモーション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be920b0712_1_0"/>
          <p:cNvSpPr/>
          <p:nvPr/>
        </p:nvSpPr>
        <p:spPr>
          <a:xfrm>
            <a:off x="1808011" y="3790731"/>
            <a:ext cx="374100" cy="244800"/>
          </a:xfrm>
          <a:prstGeom prst="roundRect">
            <a:avLst>
              <a:gd fmla="val 12500" name="adj"/>
            </a:avLst>
          </a:prstGeom>
          <a:solidFill>
            <a:srgbClr val="70AD47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be920b0712_1_0"/>
          <p:cNvSpPr/>
          <p:nvPr/>
        </p:nvSpPr>
        <p:spPr>
          <a:xfrm>
            <a:off x="1844587" y="3790731"/>
            <a:ext cx="300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~β版 プレス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be920b0712_1_0"/>
          <p:cNvSpPr/>
          <p:nvPr/>
        </p:nvSpPr>
        <p:spPr>
          <a:xfrm>
            <a:off x="2182085" y="4086684"/>
            <a:ext cx="3179700" cy="244800"/>
          </a:xfrm>
          <a:prstGeom prst="roundRect">
            <a:avLst>
              <a:gd fmla="val 12500" name="adj"/>
            </a:avLst>
          </a:prstGeom>
          <a:solidFill>
            <a:srgbClr val="70AD47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be920b0712_1_0"/>
          <p:cNvSpPr/>
          <p:nvPr/>
        </p:nvSpPr>
        <p:spPr>
          <a:xfrm>
            <a:off x="2218661" y="4086684"/>
            <a:ext cx="3106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Phase1~Phase3 パートナー獲得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be920b0712_1_0"/>
          <p:cNvSpPr/>
          <p:nvPr/>
        </p:nvSpPr>
        <p:spPr>
          <a:xfrm>
            <a:off x="5392881" y="4382636"/>
            <a:ext cx="3491400" cy="244800"/>
          </a:xfrm>
          <a:prstGeom prst="roundRect">
            <a:avLst>
              <a:gd fmla="val 12500" name="adj"/>
            </a:avLst>
          </a:prstGeom>
          <a:solidFill>
            <a:srgbClr val="70AD47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e920b0712_1_0"/>
          <p:cNvSpPr/>
          <p:nvPr/>
        </p:nvSpPr>
        <p:spPr>
          <a:xfrm>
            <a:off x="5429457" y="4382636"/>
            <a:ext cx="3418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Phase3 ユーザー獲得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g3be920b0712_1_0"/>
          <p:cNvCxnSpPr/>
          <p:nvPr/>
        </p:nvCxnSpPr>
        <p:spPr>
          <a:xfrm>
            <a:off x="2961404" y="978400"/>
            <a:ext cx="0" cy="3929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"/>
          <p:cNvSpPr txBox="1"/>
          <p:nvPr>
            <p:ph type="title"/>
          </p:nvPr>
        </p:nvSpPr>
        <p:spPr>
          <a:xfrm>
            <a:off x="295500" y="330650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1600">
                <a:latin typeface="Meiryo"/>
                <a:ea typeface="Meiryo"/>
                <a:cs typeface="Meiryo"/>
                <a:sym typeface="Meiryo"/>
              </a:rPr>
              <a:t>開発ロードマップ（概要版）</a:t>
            </a:r>
            <a:endParaRPr sz="16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302825" y="204350"/>
            <a:ext cx="85530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55FF"/>
                </a:solidFill>
                <a:latin typeface="Meiryo"/>
                <a:ea typeface="Meiryo"/>
                <a:cs typeface="Meiryo"/>
                <a:sym typeface="Meiryo"/>
              </a:rPr>
              <a:t>xxx</a:t>
            </a:r>
            <a:endParaRPr b="0" i="0" sz="800" u="none" cap="none" strike="noStrike">
              <a:solidFill>
                <a:srgbClr val="0055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7" name="Google Shape;187;p2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205588" y="822040"/>
            <a:ext cx="1201444" cy="363718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フェーズ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205588" y="2215699"/>
            <a:ext cx="1201444" cy="599494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目的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205588" y="2849077"/>
            <a:ext cx="1201444" cy="1238892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実施内容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205588" y="4121852"/>
            <a:ext cx="1201444" cy="599494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KPI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2"/>
          <p:cNvCxnSpPr/>
          <p:nvPr/>
        </p:nvCxnSpPr>
        <p:spPr>
          <a:xfrm>
            <a:off x="220224" y="2824975"/>
            <a:ext cx="8680309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93" name="Google Shape;193;p2"/>
          <p:cNvCxnSpPr/>
          <p:nvPr/>
        </p:nvCxnSpPr>
        <p:spPr>
          <a:xfrm>
            <a:off x="220224" y="2198583"/>
            <a:ext cx="8680309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94" name="Google Shape;194;p2"/>
          <p:cNvCxnSpPr/>
          <p:nvPr/>
        </p:nvCxnSpPr>
        <p:spPr>
          <a:xfrm>
            <a:off x="220224" y="1778851"/>
            <a:ext cx="8680309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95" name="Google Shape;195;p2"/>
          <p:cNvCxnSpPr/>
          <p:nvPr/>
        </p:nvCxnSpPr>
        <p:spPr>
          <a:xfrm>
            <a:off x="220224" y="4104078"/>
            <a:ext cx="8680309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96" name="Google Shape;196;p2"/>
          <p:cNvCxnSpPr/>
          <p:nvPr/>
        </p:nvCxnSpPr>
        <p:spPr>
          <a:xfrm>
            <a:off x="220224" y="4736594"/>
            <a:ext cx="8680309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97" name="Google Shape;197;p2"/>
          <p:cNvSpPr txBox="1"/>
          <p:nvPr/>
        </p:nvSpPr>
        <p:spPr>
          <a:xfrm>
            <a:off x="6760025" y="4675669"/>
            <a:ext cx="2178168" cy="2797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※詳細スプレッドシートは</a:t>
            </a:r>
            <a:r>
              <a:rPr b="0" i="0" lang="en-US" sz="800" u="sng" cap="none" strike="noStrik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こちら</a:t>
            </a:r>
            <a:endParaRPr b="0" i="0" sz="800" u="none" cap="none" strike="noStrike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※Phase1デッドライン：MM/DD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※Phase4デッドライン：MM/DD</a:t>
            </a:r>
            <a:endParaRPr b="1" i="0" sz="800" u="none" cap="none" strike="noStrike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98" name="Google Shape;198;p2"/>
          <p:cNvGrpSpPr/>
          <p:nvPr/>
        </p:nvGrpSpPr>
        <p:grpSpPr>
          <a:xfrm>
            <a:off x="1621278" y="822040"/>
            <a:ext cx="7316915" cy="363524"/>
            <a:chOff x="1621278" y="822040"/>
            <a:chExt cx="7279245" cy="363524"/>
          </a:xfrm>
        </p:grpSpPr>
        <p:sp>
          <p:nvSpPr>
            <p:cNvPr id="199" name="Google Shape;199;p2"/>
            <p:cNvSpPr/>
            <p:nvPr/>
          </p:nvSpPr>
          <p:spPr>
            <a:xfrm>
              <a:off x="1621278" y="822040"/>
              <a:ext cx="1305855" cy="363524"/>
            </a:xfrm>
            <a:prstGeom prst="homePlate">
              <a:avLst>
                <a:gd fmla="val 28461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Phase0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2950724" y="822040"/>
              <a:ext cx="1305855" cy="363524"/>
            </a:xfrm>
            <a:prstGeom prst="homePlate">
              <a:avLst>
                <a:gd fmla="val 28461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Phase1</a:t>
              </a:r>
              <a:endParaRPr b="1" i="0" sz="10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4280170" y="822040"/>
              <a:ext cx="1305855" cy="363524"/>
            </a:xfrm>
            <a:prstGeom prst="homePlate">
              <a:avLst>
                <a:gd fmla="val 28461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Phase2</a:t>
              </a:r>
              <a:endParaRPr b="1" i="0" sz="10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5609616" y="822040"/>
              <a:ext cx="1305855" cy="363524"/>
            </a:xfrm>
            <a:prstGeom prst="homePlate">
              <a:avLst>
                <a:gd fmla="val 28461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Phase3</a:t>
              </a:r>
              <a:endParaRPr b="1" i="0" sz="10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6939062" y="822040"/>
              <a:ext cx="1305855" cy="363524"/>
            </a:xfrm>
            <a:prstGeom prst="homePlate">
              <a:avLst>
                <a:gd fmla="val 28461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Phase4</a:t>
              </a:r>
              <a:endParaRPr b="1" i="0" sz="10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8268510" y="822040"/>
              <a:ext cx="632013" cy="363524"/>
            </a:xfrm>
            <a:prstGeom prst="homePlate">
              <a:avLst>
                <a:gd fmla="val 28461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Phase5~</a:t>
              </a:r>
              <a:endParaRPr b="1" i="0" sz="10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205" name="Google Shape;205;p2"/>
          <p:cNvGrpSpPr/>
          <p:nvPr/>
        </p:nvGrpSpPr>
        <p:grpSpPr>
          <a:xfrm>
            <a:off x="1621278" y="1226938"/>
            <a:ext cx="7316915" cy="207679"/>
            <a:chOff x="1241126" y="826135"/>
            <a:chExt cx="6214913" cy="158100"/>
          </a:xfrm>
        </p:grpSpPr>
        <p:sp>
          <p:nvSpPr>
            <p:cNvPr id="206" name="Google Shape;206;p2"/>
            <p:cNvSpPr/>
            <p:nvPr/>
          </p:nvSpPr>
          <p:spPr>
            <a:xfrm>
              <a:off x="1241126" y="826135"/>
              <a:ext cx="4479502" cy="1581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2025年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5767004" y="826135"/>
              <a:ext cx="1689035" cy="1581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2026年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208" name="Google Shape;208;p2"/>
          <p:cNvGrpSpPr/>
          <p:nvPr/>
        </p:nvGrpSpPr>
        <p:grpSpPr>
          <a:xfrm>
            <a:off x="1621279" y="1449865"/>
            <a:ext cx="1309875" cy="283053"/>
            <a:chOff x="1621279" y="1409834"/>
            <a:chExt cx="1339764" cy="167854"/>
          </a:xfrm>
        </p:grpSpPr>
        <p:sp>
          <p:nvSpPr>
            <p:cNvPr id="209" name="Google Shape;209;p2"/>
            <p:cNvSpPr/>
            <p:nvPr/>
          </p:nvSpPr>
          <p:spPr>
            <a:xfrm>
              <a:off x="1621279" y="1409834"/>
              <a:ext cx="316461" cy="16785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10月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1962380" y="1409834"/>
              <a:ext cx="316461" cy="16785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11月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2303481" y="1409834"/>
              <a:ext cx="316461" cy="16785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12月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2644582" y="1409834"/>
              <a:ext cx="316461" cy="16785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01月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13" name="Google Shape;213;p2"/>
          <p:cNvSpPr/>
          <p:nvPr/>
        </p:nvSpPr>
        <p:spPr>
          <a:xfrm>
            <a:off x="2955245" y="1449865"/>
            <a:ext cx="1314972" cy="28305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XX月</a:t>
            </a:r>
            <a:endParaRPr b="1" i="0" sz="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14" name="Google Shape;214;p2"/>
          <p:cNvGrpSpPr/>
          <p:nvPr/>
        </p:nvGrpSpPr>
        <p:grpSpPr>
          <a:xfrm>
            <a:off x="4293930" y="1449865"/>
            <a:ext cx="1312613" cy="283053"/>
            <a:chOff x="4327432" y="1409834"/>
            <a:chExt cx="1309226" cy="167854"/>
          </a:xfrm>
        </p:grpSpPr>
        <p:sp>
          <p:nvSpPr>
            <p:cNvPr id="215" name="Google Shape;215;p2"/>
            <p:cNvSpPr/>
            <p:nvPr/>
          </p:nvSpPr>
          <p:spPr>
            <a:xfrm>
              <a:off x="4327432" y="1409834"/>
              <a:ext cx="642293" cy="167854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03月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994365" y="1409834"/>
              <a:ext cx="642293" cy="167854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04月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217" name="Google Shape;217;p2"/>
          <p:cNvGrpSpPr/>
          <p:nvPr/>
        </p:nvGrpSpPr>
        <p:grpSpPr>
          <a:xfrm>
            <a:off x="5630256" y="1449865"/>
            <a:ext cx="1899316" cy="283053"/>
            <a:chOff x="5661298" y="1409834"/>
            <a:chExt cx="1868274" cy="167854"/>
          </a:xfrm>
        </p:grpSpPr>
        <p:sp>
          <p:nvSpPr>
            <p:cNvPr id="218" name="Google Shape;218;p2"/>
            <p:cNvSpPr/>
            <p:nvPr/>
          </p:nvSpPr>
          <p:spPr>
            <a:xfrm>
              <a:off x="5661298" y="1409834"/>
              <a:ext cx="921817" cy="167854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05月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607755" y="1409834"/>
              <a:ext cx="921817" cy="167854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06月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220" name="Google Shape;220;p2"/>
          <p:cNvGrpSpPr/>
          <p:nvPr/>
        </p:nvGrpSpPr>
        <p:grpSpPr>
          <a:xfrm>
            <a:off x="7554212" y="1449867"/>
            <a:ext cx="983726" cy="283044"/>
            <a:chOff x="7554212" y="1469033"/>
            <a:chExt cx="1103788" cy="207673"/>
          </a:xfrm>
        </p:grpSpPr>
        <p:sp>
          <p:nvSpPr>
            <p:cNvPr id="221" name="Google Shape;221;p2"/>
            <p:cNvSpPr/>
            <p:nvPr/>
          </p:nvSpPr>
          <p:spPr>
            <a:xfrm>
              <a:off x="7554212" y="1469033"/>
              <a:ext cx="539574" cy="207673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07月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8118426" y="1469033"/>
              <a:ext cx="539574" cy="207673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08月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23" name="Google Shape;223;p2"/>
          <p:cNvSpPr/>
          <p:nvPr/>
        </p:nvSpPr>
        <p:spPr>
          <a:xfrm>
            <a:off x="8559898" y="1449867"/>
            <a:ext cx="378295" cy="283044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XX月</a:t>
            </a:r>
            <a:endParaRPr b="1" i="0" sz="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205588" y="1226937"/>
            <a:ext cx="1201444" cy="505972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期間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5" name="Google Shape;225;p2"/>
          <p:cNvSpPr/>
          <p:nvPr/>
        </p:nvSpPr>
        <p:spPr>
          <a:xfrm>
            <a:off x="2642722" y="1818097"/>
            <a:ext cx="1940017" cy="167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▼仮リリース（MM/DD）</a:t>
            </a:r>
            <a:endParaRPr b="1" i="0" sz="6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" name="Google Shape;226;p2"/>
          <p:cNvSpPr/>
          <p:nvPr/>
        </p:nvSpPr>
        <p:spPr>
          <a:xfrm>
            <a:off x="3990324" y="1818097"/>
            <a:ext cx="1940017" cy="167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▼β版リリース（MM/DD）</a:t>
            </a:r>
            <a:endParaRPr b="1" i="0" sz="6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7" name="Google Shape;227;p2"/>
          <p:cNvSpPr/>
          <p:nvPr/>
        </p:nvSpPr>
        <p:spPr>
          <a:xfrm>
            <a:off x="3020316" y="2014813"/>
            <a:ext cx="1940017" cy="167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イベント告知プレスリリース（MM/DD）▼</a:t>
            </a:r>
            <a:endParaRPr b="1" i="0" sz="6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8" name="Google Shape;228;p2"/>
          <p:cNvSpPr/>
          <p:nvPr/>
        </p:nvSpPr>
        <p:spPr>
          <a:xfrm>
            <a:off x="5385688" y="1818097"/>
            <a:ext cx="1940017" cy="167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▼β版機能拡張リリース（MM/DD）</a:t>
            </a:r>
            <a:endParaRPr b="1" i="0" sz="6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4992262" y="2014813"/>
            <a:ext cx="19401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正式版リリース・プレスリリース（MM/DD）▼</a:t>
            </a:r>
            <a:endParaRPr b="1" i="0" sz="6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6366779" y="1818097"/>
            <a:ext cx="1940017" cy="167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正式版機能拡張リリース（MM/DD）▼</a:t>
            </a:r>
            <a:endParaRPr b="1" i="0" sz="6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1" name="Google Shape;231;p2"/>
          <p:cNvSpPr/>
          <p:nvPr/>
        </p:nvSpPr>
        <p:spPr>
          <a:xfrm>
            <a:off x="6993955" y="2014813"/>
            <a:ext cx="1940017" cy="167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メインイベント（MM/DD）▼</a:t>
            </a:r>
            <a:endParaRPr b="1" i="0" sz="6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205588" y="1818097"/>
            <a:ext cx="1201444" cy="363718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マイル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3" name="Google Shape;233;p2"/>
          <p:cNvSpPr/>
          <p:nvPr/>
        </p:nvSpPr>
        <p:spPr>
          <a:xfrm>
            <a:off x="1621278" y="2215699"/>
            <a:ext cx="1309876" cy="599494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β版リリースのための下準備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1621278" y="2849077"/>
            <a:ext cx="1309876" cy="1237228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下記機能の実装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4138" lvl="1" marL="265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TOPページ（〇〇向け）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4138" lvl="1" marL="265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〇〇ページ（ダミーデータ）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4138" lvl="1" marL="265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〇〇機能+決済連携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4138" lvl="1" marL="265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運営管理画面ログイン+〇〇情報登録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4138" lvl="1" marL="265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フッター/ヘッダー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4138" lvl="1" marL="265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SEO対策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4138" lvl="1" marL="265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メインイベントペラページ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1621278" y="4119327"/>
            <a:ext cx="1309876" cy="60084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2955245" y="2215699"/>
            <a:ext cx="1309876" cy="599494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〇〇の受け皿としての体裁確立（β版リリース）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プロモーションによる〇〇業界内でのサービス認知の獲得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2955245" y="2849077"/>
            <a:ext cx="1309876" cy="1237228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〇〇対応UI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1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TOP/〇〇ページ</a:t>
            </a:r>
            <a:b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</a:b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5725" lvl="1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〇〇規約対応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各種規約（利用規約/特商法等）</a:t>
            </a:r>
            <a:b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</a:b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85725" lvl="1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〇〇実データ投入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2955245" y="4119327"/>
            <a:ext cx="1309876" cy="60084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〇〇登録数（XXX）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"/>
          <p:cNvSpPr/>
          <p:nvPr/>
        </p:nvSpPr>
        <p:spPr>
          <a:xfrm>
            <a:off x="4296667" y="2215699"/>
            <a:ext cx="1309876" cy="59949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パートナー/〇〇向け機能の拡充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パートナー/ユーザーによる自律的な情報管理体制の確立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"/>
          <p:cNvSpPr/>
          <p:nvPr/>
        </p:nvSpPr>
        <p:spPr>
          <a:xfrm>
            <a:off x="4296667" y="2849077"/>
            <a:ext cx="1309876" cy="12372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下記機能の実装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【ユーザー】登録/ログイン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【ユーザー】マイページ（情報編集/売上確認）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【パートナー】登録/ログイン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【パートナー】マイページ（売上確認）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90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Phase1のFB改修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"/>
          <p:cNvSpPr/>
          <p:nvPr/>
        </p:nvSpPr>
        <p:spPr>
          <a:xfrm>
            <a:off x="4296667" y="4119327"/>
            <a:ext cx="1309876" cy="6008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〇〇登録数（XXX）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月間売上（XXX千円）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"/>
          <p:cNvSpPr/>
          <p:nvPr/>
        </p:nvSpPr>
        <p:spPr>
          <a:xfrm>
            <a:off x="5630256" y="2215699"/>
            <a:ext cx="1309876" cy="59949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ユーザー向けメディアとしての体裁確立（正式版リリース）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プロモーションによるユーザー流入の拡大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"/>
          <p:cNvSpPr/>
          <p:nvPr/>
        </p:nvSpPr>
        <p:spPr>
          <a:xfrm>
            <a:off x="5630256" y="2849077"/>
            <a:ext cx="1309876" cy="12372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下記機能の実装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TOPページリニューアル（〇〇向け）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〇〇一覧ページ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6037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Phase2のFB改修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"/>
          <p:cNvSpPr/>
          <p:nvPr/>
        </p:nvSpPr>
        <p:spPr>
          <a:xfrm>
            <a:off x="5630256" y="4119327"/>
            <a:ext cx="1309876" cy="6008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〇〇登録数（XXX）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月間売上（XXX千円）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AU/UU/平均PV（X,XXXUU）※organic＋リファラーのみ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6963845" y="2215699"/>
            <a:ext cx="1309876" cy="59949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ユーザー向け機能の拡充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イベント連動による売上向上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6963845" y="2849077"/>
            <a:ext cx="1309876" cy="12372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下記機能の実装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1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【ユーザー】登録/ログイン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1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イベント一覧ページ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1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イベント詳細ページ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1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運営管理画面_イベント情報登録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6037" lvl="1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1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Phase3のFB改修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6963845" y="4119327"/>
            <a:ext cx="1309876" cy="6008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〇〇登録数（XXX）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月間売上（XXX千円）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90488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rPr>
              <a:t>AU/UU/平均PV（X,XXX）※organic＋リファラーのみ</a:t>
            </a:r>
            <a:endParaRPr b="0" i="0" sz="700" u="none" cap="none" strike="noStrike">
              <a:solidFill>
                <a:srgbClr val="21212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8306796" y="2215698"/>
            <a:ext cx="625282" cy="250564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>
                <a:alpha val="49019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TBD</a:t>
            </a:r>
            <a:endParaRPr b="1" i="0" sz="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03fd13933_1_0"/>
          <p:cNvSpPr/>
          <p:nvPr/>
        </p:nvSpPr>
        <p:spPr>
          <a:xfrm>
            <a:off x="164592" y="54864"/>
            <a:ext cx="8778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〇〇〇〇 プロモーションロードマップ（20XX年X月〜X月）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03fd13933_1_0"/>
          <p:cNvSpPr/>
          <p:nvPr/>
        </p:nvSpPr>
        <p:spPr>
          <a:xfrm>
            <a:off x="164592" y="246888"/>
            <a:ext cx="4114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0" i="1" lang="en-US" sz="5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プロモ戦略資料に基づく全施策のタイムライン</a:t>
            </a:r>
            <a:endParaRPr b="0" i="0" sz="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d03fd13933_1_0"/>
          <p:cNvSpPr/>
          <p:nvPr/>
        </p:nvSpPr>
        <p:spPr>
          <a:xfrm>
            <a:off x="5303520" y="265176"/>
            <a:ext cx="109800" cy="91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d03fd13933_1_0"/>
          <p:cNvSpPr/>
          <p:nvPr/>
        </p:nvSpPr>
        <p:spPr>
          <a:xfrm>
            <a:off x="5431536" y="246888"/>
            <a:ext cx="5487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アーンド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d03fd13933_1_0"/>
          <p:cNvSpPr/>
          <p:nvPr/>
        </p:nvSpPr>
        <p:spPr>
          <a:xfrm>
            <a:off x="6053328" y="265176"/>
            <a:ext cx="109800" cy="915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d03fd13933_1_0"/>
          <p:cNvSpPr/>
          <p:nvPr/>
        </p:nvSpPr>
        <p:spPr>
          <a:xfrm>
            <a:off x="6181344" y="246888"/>
            <a:ext cx="5487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オウンド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d03fd13933_1_0"/>
          <p:cNvSpPr/>
          <p:nvPr/>
        </p:nvSpPr>
        <p:spPr>
          <a:xfrm>
            <a:off x="6803136" y="265176"/>
            <a:ext cx="109800" cy="915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03fd13933_1_0"/>
          <p:cNvSpPr/>
          <p:nvPr/>
        </p:nvSpPr>
        <p:spPr>
          <a:xfrm>
            <a:off x="6931152" y="246888"/>
            <a:ext cx="5487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ペイド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03fd13933_1_0"/>
          <p:cNvSpPr/>
          <p:nvPr/>
        </p:nvSpPr>
        <p:spPr>
          <a:xfrm>
            <a:off x="7552944" y="265176"/>
            <a:ext cx="109800" cy="91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03fd13933_1_0"/>
          <p:cNvSpPr/>
          <p:nvPr/>
        </p:nvSpPr>
        <p:spPr>
          <a:xfrm>
            <a:off x="7680960" y="246888"/>
            <a:ext cx="5487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完了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d03fd13933_1_0"/>
          <p:cNvSpPr/>
          <p:nvPr/>
        </p:nvSpPr>
        <p:spPr>
          <a:xfrm>
            <a:off x="8302752" y="265176"/>
            <a:ext cx="109800" cy="91500"/>
          </a:xfrm>
          <a:prstGeom prst="rect">
            <a:avLst/>
          </a:prstGeom>
          <a:solidFill>
            <a:srgbClr val="666666">
              <a:alpha val="20000"/>
            </a:srgbClr>
          </a:solidFill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d03fd13933_1_0"/>
          <p:cNvSpPr/>
          <p:nvPr/>
        </p:nvSpPr>
        <p:spPr>
          <a:xfrm>
            <a:off x="8430768" y="246888"/>
            <a:ext cx="5487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継続施策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03fd13933_1_0"/>
          <p:cNvSpPr/>
          <p:nvPr/>
        </p:nvSpPr>
        <p:spPr>
          <a:xfrm>
            <a:off x="1508758" y="420625"/>
            <a:ext cx="795900" cy="107400"/>
          </a:xfrm>
          <a:prstGeom prst="rect">
            <a:avLst/>
          </a:prstGeom>
          <a:solidFill>
            <a:srgbClr val="F4B183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d03fd13933_1_0"/>
          <p:cNvSpPr/>
          <p:nvPr/>
        </p:nvSpPr>
        <p:spPr>
          <a:xfrm>
            <a:off x="1508758" y="420625"/>
            <a:ext cx="7959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A:100 / O:0 / P:0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d03fd13933_1_0"/>
          <p:cNvSpPr/>
          <p:nvPr/>
        </p:nvSpPr>
        <p:spPr>
          <a:xfrm>
            <a:off x="2304513" y="420625"/>
            <a:ext cx="3152400" cy="107400"/>
          </a:xfrm>
          <a:prstGeom prst="rect">
            <a:avLst/>
          </a:prstGeom>
          <a:solidFill>
            <a:srgbClr val="D5D5D5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d03fd13933_1_0"/>
          <p:cNvSpPr/>
          <p:nvPr/>
        </p:nvSpPr>
        <p:spPr>
          <a:xfrm>
            <a:off x="2304513" y="420625"/>
            <a:ext cx="31524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A:40 / O:40 / P:20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03fd13933_1_0"/>
          <p:cNvSpPr/>
          <p:nvPr/>
        </p:nvSpPr>
        <p:spPr>
          <a:xfrm>
            <a:off x="5456922" y="420625"/>
            <a:ext cx="3458400" cy="107400"/>
          </a:xfrm>
          <a:prstGeom prst="rect">
            <a:avLst/>
          </a:prstGeom>
          <a:solidFill>
            <a:srgbClr val="A9D18E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d03fd13933_1_0"/>
          <p:cNvSpPr/>
          <p:nvPr/>
        </p:nvSpPr>
        <p:spPr>
          <a:xfrm>
            <a:off x="5456922" y="420625"/>
            <a:ext cx="34584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A:20 / O:20 / P:60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d03fd13933_1_0"/>
          <p:cNvSpPr/>
          <p:nvPr/>
        </p:nvSpPr>
        <p:spPr>
          <a:xfrm>
            <a:off x="1508756" y="869367"/>
            <a:ext cx="795900" cy="3905400"/>
          </a:xfrm>
          <a:prstGeom prst="rect">
            <a:avLst/>
          </a:prstGeom>
          <a:solidFill>
            <a:srgbClr val="FFF2C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d03fd13933_1_0"/>
          <p:cNvSpPr/>
          <p:nvPr/>
        </p:nvSpPr>
        <p:spPr>
          <a:xfrm>
            <a:off x="2304512" y="869367"/>
            <a:ext cx="3152400" cy="3905400"/>
          </a:xfrm>
          <a:prstGeom prst="rect">
            <a:avLst/>
          </a:prstGeom>
          <a:solidFill>
            <a:srgbClr val="DAEE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d03fd13933_1_0"/>
          <p:cNvSpPr/>
          <p:nvPr/>
        </p:nvSpPr>
        <p:spPr>
          <a:xfrm>
            <a:off x="5456923" y="869367"/>
            <a:ext cx="3458400" cy="3905400"/>
          </a:xfrm>
          <a:prstGeom prst="rect">
            <a:avLst/>
          </a:prstGeom>
          <a:solidFill>
            <a:srgbClr val="E2EFD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03fd13933_1_0"/>
          <p:cNvSpPr/>
          <p:nvPr/>
        </p:nvSpPr>
        <p:spPr>
          <a:xfrm>
            <a:off x="1508756" y="856637"/>
            <a:ext cx="7959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1" lang="en-US" sz="500" u="none" cap="none" strike="noStrike">
                <a:solidFill>
                  <a:srgbClr val="996600"/>
                </a:solidFill>
                <a:latin typeface="Arial"/>
                <a:ea typeface="Arial"/>
                <a:cs typeface="Arial"/>
                <a:sym typeface="Arial"/>
              </a:rPr>
              <a:t>~β版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03fd13933_1_0"/>
          <p:cNvSpPr/>
          <p:nvPr/>
        </p:nvSpPr>
        <p:spPr>
          <a:xfrm>
            <a:off x="2304512" y="856637"/>
            <a:ext cx="3152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1" lang="en-US" sz="500" u="none" cap="none" strike="noStrike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rPr>
              <a:t>β版 ~ 正式版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d03fd13933_1_0"/>
          <p:cNvSpPr/>
          <p:nvPr/>
        </p:nvSpPr>
        <p:spPr>
          <a:xfrm>
            <a:off x="5456923" y="856637"/>
            <a:ext cx="3458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1" lang="en-US" sz="500" u="none" cap="none" strike="noStrike">
                <a:solidFill>
                  <a:srgbClr val="336633"/>
                </a:solidFill>
                <a:latin typeface="Arial"/>
                <a:ea typeface="Arial"/>
                <a:cs typeface="Arial"/>
                <a:sym typeface="Arial"/>
              </a:rPr>
              <a:t>正式版 ~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d03fd13933_1_0"/>
          <p:cNvSpPr/>
          <p:nvPr/>
        </p:nvSpPr>
        <p:spPr>
          <a:xfrm>
            <a:off x="1508756" y="563826"/>
            <a:ext cx="7406700" cy="305700"/>
          </a:xfrm>
          <a:prstGeom prst="rect">
            <a:avLst/>
          </a:prstGeom>
          <a:solidFill>
            <a:srgbClr val="2E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03fd13933_1_0"/>
          <p:cNvSpPr/>
          <p:nvPr/>
        </p:nvSpPr>
        <p:spPr>
          <a:xfrm>
            <a:off x="1508756" y="563826"/>
            <a:ext cx="857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03fd13933_1_0"/>
          <p:cNvSpPr/>
          <p:nvPr/>
        </p:nvSpPr>
        <p:spPr>
          <a:xfrm>
            <a:off x="2365724" y="563826"/>
            <a:ext cx="948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g3d03fd13933_1_0"/>
          <p:cNvCxnSpPr/>
          <p:nvPr/>
        </p:nvCxnSpPr>
        <p:spPr>
          <a:xfrm>
            <a:off x="2365724" y="563826"/>
            <a:ext cx="0" cy="42066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g3d03fd13933_1_0"/>
          <p:cNvSpPr/>
          <p:nvPr/>
        </p:nvSpPr>
        <p:spPr>
          <a:xfrm>
            <a:off x="3314507" y="563826"/>
            <a:ext cx="9183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g3d03fd13933_1_0"/>
          <p:cNvCxnSpPr/>
          <p:nvPr/>
        </p:nvCxnSpPr>
        <p:spPr>
          <a:xfrm>
            <a:off x="3314500" y="563837"/>
            <a:ext cx="900" cy="42066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g3d03fd13933_1_0"/>
          <p:cNvSpPr/>
          <p:nvPr/>
        </p:nvSpPr>
        <p:spPr>
          <a:xfrm>
            <a:off x="4232686" y="563826"/>
            <a:ext cx="948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g3d03fd13933_1_0"/>
          <p:cNvCxnSpPr/>
          <p:nvPr/>
        </p:nvCxnSpPr>
        <p:spPr>
          <a:xfrm>
            <a:off x="4232682" y="563837"/>
            <a:ext cx="900" cy="42066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g3d03fd13933_1_0"/>
          <p:cNvSpPr/>
          <p:nvPr/>
        </p:nvSpPr>
        <p:spPr>
          <a:xfrm>
            <a:off x="5181469" y="563826"/>
            <a:ext cx="9183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3d03fd13933_1_0"/>
          <p:cNvCxnSpPr/>
          <p:nvPr/>
        </p:nvCxnSpPr>
        <p:spPr>
          <a:xfrm>
            <a:off x="5181469" y="563837"/>
            <a:ext cx="900" cy="42066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g3d03fd13933_1_0"/>
          <p:cNvSpPr/>
          <p:nvPr/>
        </p:nvSpPr>
        <p:spPr>
          <a:xfrm>
            <a:off x="6099648" y="563826"/>
            <a:ext cx="948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g3d03fd13933_1_0"/>
          <p:cNvCxnSpPr/>
          <p:nvPr/>
        </p:nvCxnSpPr>
        <p:spPr>
          <a:xfrm>
            <a:off x="6099652" y="563837"/>
            <a:ext cx="900" cy="42066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g3d03fd13933_1_0"/>
          <p:cNvSpPr/>
          <p:nvPr/>
        </p:nvSpPr>
        <p:spPr>
          <a:xfrm>
            <a:off x="7048431" y="563826"/>
            <a:ext cx="948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g3d03fd13933_1_0"/>
          <p:cNvCxnSpPr/>
          <p:nvPr/>
        </p:nvCxnSpPr>
        <p:spPr>
          <a:xfrm>
            <a:off x="7048438" y="563837"/>
            <a:ext cx="900" cy="42066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g3d03fd13933_1_0"/>
          <p:cNvSpPr/>
          <p:nvPr/>
        </p:nvSpPr>
        <p:spPr>
          <a:xfrm>
            <a:off x="7997215" y="563826"/>
            <a:ext cx="9183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9月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g3d03fd13933_1_0"/>
          <p:cNvCxnSpPr/>
          <p:nvPr/>
        </p:nvCxnSpPr>
        <p:spPr>
          <a:xfrm>
            <a:off x="7997225" y="563837"/>
            <a:ext cx="900" cy="42066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g3d03fd13933_1_0"/>
          <p:cNvSpPr/>
          <p:nvPr/>
        </p:nvSpPr>
        <p:spPr>
          <a:xfrm>
            <a:off x="109725" y="563826"/>
            <a:ext cx="1335000" cy="305700"/>
          </a:xfrm>
          <a:prstGeom prst="rect">
            <a:avLst/>
          </a:prstGeom>
          <a:solidFill>
            <a:srgbClr val="2E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d03fd13933_1_0"/>
          <p:cNvSpPr/>
          <p:nvPr/>
        </p:nvSpPr>
        <p:spPr>
          <a:xfrm>
            <a:off x="109725" y="563826"/>
            <a:ext cx="1335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メディア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d03fd13933_1_0"/>
          <p:cNvSpPr/>
          <p:nvPr/>
        </p:nvSpPr>
        <p:spPr>
          <a:xfrm>
            <a:off x="109725" y="894829"/>
            <a:ext cx="8805600" cy="57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03fd13933_1_0"/>
          <p:cNvSpPr/>
          <p:nvPr/>
        </p:nvSpPr>
        <p:spPr>
          <a:xfrm>
            <a:off x="109725" y="894829"/>
            <a:ext cx="1335000" cy="573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d03fd13933_1_0"/>
          <p:cNvSpPr/>
          <p:nvPr/>
        </p:nvSpPr>
        <p:spPr>
          <a:xfrm>
            <a:off x="109725" y="894829"/>
            <a:ext cx="45600" cy="57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03fd13933_1_0"/>
          <p:cNvSpPr/>
          <p:nvPr/>
        </p:nvSpPr>
        <p:spPr>
          <a:xfrm>
            <a:off x="201165" y="894829"/>
            <a:ext cx="12069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マイルストーン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d03fd13933_1_0"/>
          <p:cNvSpPr/>
          <p:nvPr/>
        </p:nvSpPr>
        <p:spPr>
          <a:xfrm>
            <a:off x="2263373" y="1044249"/>
            <a:ext cx="82200" cy="798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03fd13933_1_0"/>
          <p:cNvSpPr/>
          <p:nvPr/>
        </p:nvSpPr>
        <p:spPr>
          <a:xfrm>
            <a:off x="1801591" y="1136716"/>
            <a:ext cx="1005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β版リリース(M/DD)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d03fd13933_1_0"/>
          <p:cNvSpPr/>
          <p:nvPr/>
        </p:nvSpPr>
        <p:spPr>
          <a:xfrm>
            <a:off x="3059125" y="1044249"/>
            <a:ext cx="82200" cy="798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d03fd13933_1_0"/>
          <p:cNvSpPr/>
          <p:nvPr/>
        </p:nvSpPr>
        <p:spPr>
          <a:xfrm>
            <a:off x="2597345" y="1136716"/>
            <a:ext cx="1005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イベント告知(M/DD)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d03fd13933_1_0"/>
          <p:cNvSpPr/>
          <p:nvPr/>
        </p:nvSpPr>
        <p:spPr>
          <a:xfrm>
            <a:off x="4160937" y="1044249"/>
            <a:ext cx="82200" cy="798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d03fd13933_1_0"/>
          <p:cNvSpPr/>
          <p:nvPr/>
        </p:nvSpPr>
        <p:spPr>
          <a:xfrm>
            <a:off x="3699160" y="1136716"/>
            <a:ext cx="1005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β版機能拡張(M/DD)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d03fd13933_1_0"/>
          <p:cNvSpPr/>
          <p:nvPr/>
        </p:nvSpPr>
        <p:spPr>
          <a:xfrm>
            <a:off x="5415777" y="1044249"/>
            <a:ext cx="82200" cy="798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d03fd13933_1_0"/>
          <p:cNvSpPr/>
          <p:nvPr/>
        </p:nvSpPr>
        <p:spPr>
          <a:xfrm>
            <a:off x="4954004" y="1136716"/>
            <a:ext cx="1005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正式版リリース(M/DD)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d03fd13933_1_0"/>
          <p:cNvSpPr/>
          <p:nvPr/>
        </p:nvSpPr>
        <p:spPr>
          <a:xfrm>
            <a:off x="7282735" y="1044249"/>
            <a:ext cx="82200" cy="798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03fd13933_1_0"/>
          <p:cNvSpPr/>
          <p:nvPr/>
        </p:nvSpPr>
        <p:spPr>
          <a:xfrm>
            <a:off x="6820966" y="1136716"/>
            <a:ext cx="1005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正式版機能拡張(M/DD)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03fd13933_1_0"/>
          <p:cNvSpPr/>
          <p:nvPr/>
        </p:nvSpPr>
        <p:spPr>
          <a:xfrm>
            <a:off x="8751816" y="1044249"/>
            <a:ext cx="82200" cy="79800"/>
          </a:xfrm>
          <a:prstGeom prst="diamond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d03fd13933_1_0"/>
          <p:cNvSpPr/>
          <p:nvPr/>
        </p:nvSpPr>
        <p:spPr>
          <a:xfrm>
            <a:off x="8290050" y="1136716"/>
            <a:ext cx="1005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メインイベント(M/DD)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d03fd13933_1_0"/>
          <p:cNvSpPr/>
          <p:nvPr/>
        </p:nvSpPr>
        <p:spPr>
          <a:xfrm>
            <a:off x="109725" y="1467719"/>
            <a:ext cx="1335000" cy="598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d03fd13933_1_0"/>
          <p:cNvSpPr/>
          <p:nvPr/>
        </p:nvSpPr>
        <p:spPr>
          <a:xfrm>
            <a:off x="109725" y="1467719"/>
            <a:ext cx="45600" cy="598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d03fd13933_1_0"/>
          <p:cNvSpPr/>
          <p:nvPr/>
        </p:nvSpPr>
        <p:spPr>
          <a:xfrm>
            <a:off x="201165" y="1467719"/>
            <a:ext cx="12069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アーンド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メディア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d03fd13933_1_0"/>
          <p:cNvSpPr/>
          <p:nvPr/>
        </p:nvSpPr>
        <p:spPr>
          <a:xfrm>
            <a:off x="1937239" y="1531374"/>
            <a:ext cx="367200" cy="203700"/>
          </a:xfrm>
          <a:prstGeom prst="roundRect">
            <a:avLst>
              <a:gd fmla="val 18750" name="adj"/>
            </a:avLst>
          </a:prstGeom>
          <a:solidFill>
            <a:srgbClr val="CCCCCC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d03fd13933_1_0"/>
          <p:cNvSpPr/>
          <p:nvPr/>
        </p:nvSpPr>
        <p:spPr>
          <a:xfrm>
            <a:off x="1955527" y="1531374"/>
            <a:ext cx="3306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β版プレスリリース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d03fd13933_1_0"/>
          <p:cNvSpPr/>
          <p:nvPr/>
        </p:nvSpPr>
        <p:spPr>
          <a:xfrm>
            <a:off x="2396330" y="1531374"/>
            <a:ext cx="2754600" cy="203700"/>
          </a:xfrm>
          <a:prstGeom prst="roundRect">
            <a:avLst>
              <a:gd fmla="val 18750" name="adj"/>
            </a:avLst>
          </a:prstGeom>
          <a:solidFill>
            <a:srgbClr val="ED7D31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d03fd13933_1_0"/>
          <p:cNvSpPr/>
          <p:nvPr/>
        </p:nvSpPr>
        <p:spPr>
          <a:xfrm>
            <a:off x="2414617" y="1531374"/>
            <a:ext cx="2718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〇〇ページのSNS掲載・拡散依頼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d03fd13933_1_0"/>
          <p:cNvSpPr/>
          <p:nvPr/>
        </p:nvSpPr>
        <p:spPr>
          <a:xfrm>
            <a:off x="5456923" y="1531374"/>
            <a:ext cx="1560900" cy="203700"/>
          </a:xfrm>
          <a:prstGeom prst="roundRect">
            <a:avLst>
              <a:gd fmla="val 18750" name="adj"/>
            </a:avLst>
          </a:prstGeom>
          <a:solidFill>
            <a:srgbClr val="ED7D31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d03fd13933_1_0"/>
          <p:cNvSpPr/>
          <p:nvPr/>
        </p:nvSpPr>
        <p:spPr>
          <a:xfrm>
            <a:off x="5475211" y="1531374"/>
            <a:ext cx="1524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パートナーメディア掲出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d03fd13933_1_0"/>
          <p:cNvSpPr/>
          <p:nvPr/>
        </p:nvSpPr>
        <p:spPr>
          <a:xfrm>
            <a:off x="5028440" y="1773261"/>
            <a:ext cx="428400" cy="203700"/>
          </a:xfrm>
          <a:prstGeom prst="roundRect">
            <a:avLst>
              <a:gd fmla="val 18750" name="adj"/>
            </a:avLst>
          </a:prstGeom>
          <a:solidFill>
            <a:srgbClr val="ED7D31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d03fd13933_1_0"/>
          <p:cNvSpPr/>
          <p:nvPr/>
        </p:nvSpPr>
        <p:spPr>
          <a:xfrm>
            <a:off x="5046728" y="1773261"/>
            <a:ext cx="3918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正式版プレスリリース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d03fd13933_1_0"/>
          <p:cNvSpPr/>
          <p:nvPr/>
        </p:nvSpPr>
        <p:spPr>
          <a:xfrm>
            <a:off x="5456923" y="1773261"/>
            <a:ext cx="3336000" cy="203700"/>
          </a:xfrm>
          <a:prstGeom prst="roundRect">
            <a:avLst>
              <a:gd fmla="val 18750" name="adj"/>
            </a:avLst>
          </a:prstGeom>
          <a:solidFill>
            <a:srgbClr val="ED7D31">
              <a:alpha val="20000"/>
            </a:srgbClr>
          </a:solidFill>
          <a:ln cap="flat" cmpd="sng" w="12700">
            <a:solidFill>
              <a:srgbClr val="ED7D3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d03fd13933_1_0"/>
          <p:cNvSpPr/>
          <p:nvPr/>
        </p:nvSpPr>
        <p:spPr>
          <a:xfrm>
            <a:off x="5475211" y="1773261"/>
            <a:ext cx="3299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XXXサービス OGPシェア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d03fd13933_1_0"/>
          <p:cNvSpPr/>
          <p:nvPr/>
        </p:nvSpPr>
        <p:spPr>
          <a:xfrm>
            <a:off x="109725" y="2066071"/>
            <a:ext cx="1335000" cy="1587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d03fd13933_1_0"/>
          <p:cNvSpPr/>
          <p:nvPr/>
        </p:nvSpPr>
        <p:spPr>
          <a:xfrm>
            <a:off x="109725" y="2066071"/>
            <a:ext cx="45600" cy="1587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d03fd13933_1_0"/>
          <p:cNvSpPr/>
          <p:nvPr/>
        </p:nvSpPr>
        <p:spPr>
          <a:xfrm>
            <a:off x="201165" y="2066071"/>
            <a:ext cx="1206900" cy="15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オウンド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メディア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d03fd13933_1_0"/>
          <p:cNvSpPr/>
          <p:nvPr/>
        </p:nvSpPr>
        <p:spPr>
          <a:xfrm>
            <a:off x="3014322" y="3339162"/>
            <a:ext cx="1187700" cy="203700"/>
          </a:xfrm>
          <a:prstGeom prst="roundRect">
            <a:avLst>
              <a:gd fmla="val 1875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d03fd13933_1_0"/>
          <p:cNvSpPr/>
          <p:nvPr/>
        </p:nvSpPr>
        <p:spPr>
          <a:xfrm>
            <a:off x="3016830" y="3339162"/>
            <a:ext cx="1185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SNS準備（アカウント+ガイドライン）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d03fd13933_1_0"/>
          <p:cNvSpPr/>
          <p:nvPr/>
        </p:nvSpPr>
        <p:spPr>
          <a:xfrm>
            <a:off x="4202071" y="3339162"/>
            <a:ext cx="4590900" cy="203700"/>
          </a:xfrm>
          <a:prstGeom prst="roundRect">
            <a:avLst>
              <a:gd fmla="val 18750" name="adj"/>
            </a:avLst>
          </a:prstGeom>
          <a:solidFill>
            <a:srgbClr val="4472C4">
              <a:alpha val="20000"/>
            </a:srgbClr>
          </a:solidFill>
          <a:ln cap="flat" cmpd="sng" w="12700">
            <a:solidFill>
              <a:srgbClr val="4472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d03fd13933_1_0"/>
          <p:cNvSpPr/>
          <p:nvPr/>
        </p:nvSpPr>
        <p:spPr>
          <a:xfrm>
            <a:off x="4202071" y="3339162"/>
            <a:ext cx="45909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SNS運用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d03fd13933_1_0"/>
          <p:cNvSpPr/>
          <p:nvPr/>
        </p:nvSpPr>
        <p:spPr>
          <a:xfrm>
            <a:off x="2365724" y="2129734"/>
            <a:ext cx="948900" cy="203700"/>
          </a:xfrm>
          <a:prstGeom prst="roundRect">
            <a:avLst>
              <a:gd fmla="val 1875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d03fd13933_1_0"/>
          <p:cNvSpPr/>
          <p:nvPr/>
        </p:nvSpPr>
        <p:spPr>
          <a:xfrm>
            <a:off x="2384012" y="2129734"/>
            <a:ext cx="912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会場掲出確認（〇〇会場）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03fd13933_1_0"/>
          <p:cNvSpPr/>
          <p:nvPr/>
        </p:nvSpPr>
        <p:spPr>
          <a:xfrm>
            <a:off x="2365724" y="2371613"/>
            <a:ext cx="948900" cy="203700"/>
          </a:xfrm>
          <a:prstGeom prst="roundRect">
            <a:avLst>
              <a:gd fmla="val 1875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d03fd13933_1_0"/>
          <p:cNvSpPr/>
          <p:nvPr/>
        </p:nvSpPr>
        <p:spPr>
          <a:xfrm>
            <a:off x="2384012" y="2371613"/>
            <a:ext cx="912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チラシデザイン（パートナー/ユーザー向け）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d03fd13933_1_0"/>
          <p:cNvSpPr/>
          <p:nvPr/>
        </p:nvSpPr>
        <p:spPr>
          <a:xfrm>
            <a:off x="3314497" y="2371606"/>
            <a:ext cx="5478600" cy="203700"/>
          </a:xfrm>
          <a:prstGeom prst="roundRect">
            <a:avLst>
              <a:gd fmla="val 18750" name="adj"/>
            </a:avLst>
          </a:prstGeom>
          <a:solidFill>
            <a:srgbClr val="4472C4">
              <a:alpha val="20000"/>
            </a:srgbClr>
          </a:solidFill>
          <a:ln cap="flat" cmpd="sng" w="12700">
            <a:solidFill>
              <a:srgbClr val="4472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d03fd13933_1_0"/>
          <p:cNvSpPr/>
          <p:nvPr/>
        </p:nvSpPr>
        <p:spPr>
          <a:xfrm>
            <a:off x="3332796" y="2371606"/>
            <a:ext cx="5460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会場（〇〇会場）掲出（パートナー/ユーザー向けチラシ）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d03fd13933_1_0"/>
          <p:cNvSpPr/>
          <p:nvPr/>
        </p:nvSpPr>
        <p:spPr>
          <a:xfrm>
            <a:off x="4232686" y="2613500"/>
            <a:ext cx="1224300" cy="203700"/>
          </a:xfrm>
          <a:prstGeom prst="roundRect">
            <a:avLst>
              <a:gd fmla="val 1875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d03fd13933_1_0"/>
          <p:cNvSpPr/>
          <p:nvPr/>
        </p:nvSpPr>
        <p:spPr>
          <a:xfrm>
            <a:off x="4250973" y="2613500"/>
            <a:ext cx="118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チラシデザイン（ユーザー向け）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d03fd13933_1_0"/>
          <p:cNvSpPr/>
          <p:nvPr/>
        </p:nvSpPr>
        <p:spPr>
          <a:xfrm>
            <a:off x="5456919" y="2613507"/>
            <a:ext cx="3336000" cy="203700"/>
          </a:xfrm>
          <a:prstGeom prst="roundRect">
            <a:avLst>
              <a:gd fmla="val 18750" name="adj"/>
            </a:avLst>
          </a:prstGeom>
          <a:solidFill>
            <a:srgbClr val="4472C4">
              <a:alpha val="20000"/>
            </a:srgbClr>
          </a:solidFill>
          <a:ln cap="flat" cmpd="sng" w="12700">
            <a:solidFill>
              <a:srgbClr val="4472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d03fd13933_1_0"/>
          <p:cNvSpPr/>
          <p:nvPr/>
        </p:nvSpPr>
        <p:spPr>
          <a:xfrm>
            <a:off x="5475219" y="2613507"/>
            <a:ext cx="331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会場掲出（ユーザー向けチラシ）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d03fd13933_1_0"/>
          <p:cNvSpPr/>
          <p:nvPr/>
        </p:nvSpPr>
        <p:spPr>
          <a:xfrm>
            <a:off x="109725" y="3667079"/>
            <a:ext cx="1335000" cy="11076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d03fd13933_1_0"/>
          <p:cNvSpPr/>
          <p:nvPr/>
        </p:nvSpPr>
        <p:spPr>
          <a:xfrm>
            <a:off x="109725" y="3667079"/>
            <a:ext cx="45600" cy="1107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d03fd13933_1_0"/>
          <p:cNvSpPr/>
          <p:nvPr/>
        </p:nvSpPr>
        <p:spPr>
          <a:xfrm>
            <a:off x="201175" y="3667093"/>
            <a:ext cx="12069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ペイド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メディア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d03fd13933_1_0"/>
          <p:cNvSpPr/>
          <p:nvPr/>
        </p:nvSpPr>
        <p:spPr>
          <a:xfrm>
            <a:off x="3014322" y="3730739"/>
            <a:ext cx="1187700" cy="203700"/>
          </a:xfrm>
          <a:prstGeom prst="roundRect">
            <a:avLst>
              <a:gd fmla="val 18750" name="adj"/>
            </a:avLst>
          </a:prstGeom>
          <a:solidFill>
            <a:srgbClr val="70AD47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d03fd13933_1_0"/>
          <p:cNvSpPr/>
          <p:nvPr/>
        </p:nvSpPr>
        <p:spPr>
          <a:xfrm>
            <a:off x="3016818" y="3730739"/>
            <a:ext cx="1167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ペイド用コンテンツ制作</a:t>
            </a:r>
            <a:endParaRPr b="1" i="0" sz="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（パートナー/ユーザー向け）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d03fd13933_1_0"/>
          <p:cNvSpPr/>
          <p:nvPr/>
        </p:nvSpPr>
        <p:spPr>
          <a:xfrm>
            <a:off x="4202080" y="3730735"/>
            <a:ext cx="4590900" cy="203700"/>
          </a:xfrm>
          <a:prstGeom prst="roundRect">
            <a:avLst>
              <a:gd fmla="val 18750" name="adj"/>
            </a:avLst>
          </a:prstGeom>
          <a:solidFill>
            <a:srgbClr val="70AD47">
              <a:alpha val="20000"/>
            </a:srgbClr>
          </a:solidFill>
          <a:ln cap="flat" cmpd="sng" w="12700">
            <a:solidFill>
              <a:srgbClr val="70AD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d03fd13933_1_0"/>
          <p:cNvSpPr/>
          <p:nvPr/>
        </p:nvSpPr>
        <p:spPr>
          <a:xfrm>
            <a:off x="4220368" y="3730735"/>
            <a:ext cx="4554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ペイド広告（パートナー/ユーザー向け）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d03fd13933_1_0"/>
          <p:cNvSpPr/>
          <p:nvPr/>
        </p:nvSpPr>
        <p:spPr>
          <a:xfrm>
            <a:off x="4202080" y="3972621"/>
            <a:ext cx="1254900" cy="203700"/>
          </a:xfrm>
          <a:prstGeom prst="roundRect">
            <a:avLst>
              <a:gd fmla="val 18750" name="adj"/>
            </a:avLst>
          </a:prstGeom>
          <a:solidFill>
            <a:srgbClr val="70AD47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03fd13933_1_0"/>
          <p:cNvSpPr/>
          <p:nvPr/>
        </p:nvSpPr>
        <p:spPr>
          <a:xfrm>
            <a:off x="4220368" y="3972621"/>
            <a:ext cx="1218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ペイド用コンテンツ制作</a:t>
            </a:r>
            <a:endParaRPr b="1" i="0" sz="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（ユーザー向け）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d03fd13933_1_0"/>
          <p:cNvSpPr/>
          <p:nvPr/>
        </p:nvSpPr>
        <p:spPr>
          <a:xfrm>
            <a:off x="5456923" y="3972621"/>
            <a:ext cx="3336000" cy="203700"/>
          </a:xfrm>
          <a:prstGeom prst="roundRect">
            <a:avLst>
              <a:gd fmla="val 18750" name="adj"/>
            </a:avLst>
          </a:prstGeom>
          <a:solidFill>
            <a:srgbClr val="70AD47">
              <a:alpha val="20000"/>
            </a:srgbClr>
          </a:solidFill>
          <a:ln cap="flat" cmpd="sng" w="12700">
            <a:solidFill>
              <a:srgbClr val="70AD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d03fd13933_1_0"/>
          <p:cNvSpPr/>
          <p:nvPr/>
        </p:nvSpPr>
        <p:spPr>
          <a:xfrm>
            <a:off x="5475211" y="3972621"/>
            <a:ext cx="3299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ペイド広告（ユーザー向け）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d03fd13933_1_0"/>
          <p:cNvSpPr/>
          <p:nvPr/>
        </p:nvSpPr>
        <p:spPr>
          <a:xfrm>
            <a:off x="5456923" y="4214509"/>
            <a:ext cx="3336000" cy="203700"/>
          </a:xfrm>
          <a:prstGeom prst="roundRect">
            <a:avLst>
              <a:gd fmla="val 18750" name="adj"/>
            </a:avLst>
          </a:prstGeom>
          <a:solidFill>
            <a:srgbClr val="70AD47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d03fd13933_1_0"/>
          <p:cNvSpPr/>
          <p:nvPr/>
        </p:nvSpPr>
        <p:spPr>
          <a:xfrm>
            <a:off x="5475211" y="4214509"/>
            <a:ext cx="3299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SEO対策（GSC分析→リスティング）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d03fd13933_1_0"/>
          <p:cNvSpPr/>
          <p:nvPr/>
        </p:nvSpPr>
        <p:spPr>
          <a:xfrm>
            <a:off x="7048431" y="4456396"/>
            <a:ext cx="1744500" cy="203700"/>
          </a:xfrm>
          <a:prstGeom prst="roundRect">
            <a:avLst>
              <a:gd fmla="val 18750" name="adj"/>
            </a:avLst>
          </a:prstGeom>
          <a:solidFill>
            <a:srgbClr val="C00000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d03fd13933_1_0"/>
          <p:cNvSpPr/>
          <p:nvPr/>
        </p:nvSpPr>
        <p:spPr>
          <a:xfrm>
            <a:off x="7066719" y="4456396"/>
            <a:ext cx="17079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イベント連動プロモーション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d03fd13933_1_0"/>
          <p:cNvSpPr/>
          <p:nvPr/>
        </p:nvSpPr>
        <p:spPr>
          <a:xfrm>
            <a:off x="3014525" y="2855400"/>
            <a:ext cx="1187700" cy="203700"/>
          </a:xfrm>
          <a:prstGeom prst="roundRect">
            <a:avLst>
              <a:gd fmla="val 1875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d03fd13933_1_0"/>
          <p:cNvSpPr/>
          <p:nvPr/>
        </p:nvSpPr>
        <p:spPr>
          <a:xfrm>
            <a:off x="3016825" y="2855400"/>
            <a:ext cx="11853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ポスターデザイン（全ターゲット向け）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03fd13933_1_0"/>
          <p:cNvSpPr/>
          <p:nvPr/>
        </p:nvSpPr>
        <p:spPr>
          <a:xfrm>
            <a:off x="4202196" y="2855388"/>
            <a:ext cx="1254900" cy="203700"/>
          </a:xfrm>
          <a:prstGeom prst="roundRect">
            <a:avLst>
              <a:gd fmla="val 18750" name="adj"/>
            </a:avLst>
          </a:prstGeom>
          <a:solidFill>
            <a:srgbClr val="4472C4">
              <a:alpha val="20000"/>
            </a:srgbClr>
          </a:solidFill>
          <a:ln cap="flat" cmpd="sng" w="12700">
            <a:solidFill>
              <a:srgbClr val="4472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d03fd13933_1_0"/>
          <p:cNvSpPr/>
          <p:nvPr/>
        </p:nvSpPr>
        <p:spPr>
          <a:xfrm>
            <a:off x="4220484" y="2855388"/>
            <a:ext cx="12366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会場（〇〇会場）拠出（全ターゲット向けポスター）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d03fd13933_1_0"/>
          <p:cNvSpPr/>
          <p:nvPr/>
        </p:nvSpPr>
        <p:spPr>
          <a:xfrm>
            <a:off x="4232686" y="3097275"/>
            <a:ext cx="1224300" cy="203700"/>
          </a:xfrm>
          <a:prstGeom prst="roundRect">
            <a:avLst>
              <a:gd fmla="val 18750" name="adj"/>
            </a:avLst>
          </a:prstGeom>
          <a:solidFill>
            <a:srgbClr val="4472C4"/>
          </a:solidFill>
          <a:ln>
            <a:noFill/>
          </a:ln>
          <a:effectLst>
            <a:outerShdw blurRad="25400" rotWithShape="0" algn="bl" dir="162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d03fd13933_1_0"/>
          <p:cNvSpPr/>
          <p:nvPr/>
        </p:nvSpPr>
        <p:spPr>
          <a:xfrm>
            <a:off x="4250973" y="3097275"/>
            <a:ext cx="1206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ポスターデザインリバイス（全ターゲット向け）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d03fd13933_1_0"/>
          <p:cNvSpPr/>
          <p:nvPr/>
        </p:nvSpPr>
        <p:spPr>
          <a:xfrm>
            <a:off x="5456950" y="3097270"/>
            <a:ext cx="3336000" cy="203700"/>
          </a:xfrm>
          <a:prstGeom prst="roundRect">
            <a:avLst>
              <a:gd fmla="val 18750" name="adj"/>
            </a:avLst>
          </a:prstGeom>
          <a:solidFill>
            <a:srgbClr val="4472C4">
              <a:alpha val="20000"/>
            </a:srgbClr>
          </a:solidFill>
          <a:ln cap="flat" cmpd="sng" w="12700">
            <a:solidFill>
              <a:srgbClr val="4472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d03fd13933_1_0"/>
          <p:cNvSpPr/>
          <p:nvPr/>
        </p:nvSpPr>
        <p:spPr>
          <a:xfrm>
            <a:off x="5475250" y="3097270"/>
            <a:ext cx="331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会場（〇〇会場）拠出（全ターゲット向けポスター）</a:t>
            </a:r>
            <a:endParaRPr b="0" i="0" sz="450" u="none" cap="none" strike="noStrike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" name="Google Shape;364;g3d03fd13933_1_0"/>
          <p:cNvCxnSpPr/>
          <p:nvPr/>
        </p:nvCxnSpPr>
        <p:spPr>
          <a:xfrm>
            <a:off x="3049895" y="890751"/>
            <a:ext cx="0" cy="38799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c18135147_3_0"/>
          <p:cNvSpPr txBox="1"/>
          <p:nvPr/>
        </p:nvSpPr>
        <p:spPr>
          <a:xfrm>
            <a:off x="2943150" y="2285850"/>
            <a:ext cx="32577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c18135147_3_173"/>
          <p:cNvSpPr txBox="1"/>
          <p:nvPr>
            <p:ph type="title"/>
          </p:nvPr>
        </p:nvSpPr>
        <p:spPr>
          <a:xfrm>
            <a:off x="295500" y="330650"/>
            <a:ext cx="8553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1600">
                <a:latin typeface="Meiryo"/>
                <a:ea typeface="Meiryo"/>
                <a:cs typeface="Meiryo"/>
                <a:sym typeface="Meiryo"/>
              </a:rPr>
              <a:t>全体スケジュール（概要版）</a:t>
            </a:r>
            <a:endParaRPr sz="16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5" name="Google Shape;375;g3cc18135147_3_173"/>
          <p:cNvSpPr txBox="1"/>
          <p:nvPr/>
        </p:nvSpPr>
        <p:spPr>
          <a:xfrm>
            <a:off x="302825" y="204350"/>
            <a:ext cx="85530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55FF"/>
                </a:solidFill>
                <a:latin typeface="Meiryo"/>
                <a:ea typeface="Meiryo"/>
                <a:cs typeface="Meiryo"/>
                <a:sym typeface="Meiryo"/>
              </a:rPr>
              <a:t>スケジュール</a:t>
            </a:r>
            <a:endParaRPr b="0" i="0" sz="800" u="none" cap="none" strike="noStrike">
              <a:solidFill>
                <a:srgbClr val="0055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6" name="Google Shape;376;g3cc18135147_3_173"/>
          <p:cNvSpPr txBox="1"/>
          <p:nvPr>
            <p:ph idx="12" type="sldNum"/>
          </p:nvPr>
        </p:nvSpPr>
        <p:spPr>
          <a:xfrm>
            <a:off x="7010400" y="4767279"/>
            <a:ext cx="2057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7" name="Google Shape;377;g3cc18135147_3_173"/>
          <p:cNvSpPr/>
          <p:nvPr/>
        </p:nvSpPr>
        <p:spPr>
          <a:xfrm>
            <a:off x="205587" y="826135"/>
            <a:ext cx="1522200" cy="56280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期間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8" name="Google Shape;378;g3cc18135147_3_173"/>
          <p:cNvSpPr/>
          <p:nvPr/>
        </p:nvSpPr>
        <p:spPr>
          <a:xfrm>
            <a:off x="205587" y="1431345"/>
            <a:ext cx="1522200" cy="35880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マイルストーン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379" name="Google Shape;379;g3cc18135147_3_173"/>
          <p:cNvGrpSpPr/>
          <p:nvPr/>
        </p:nvGrpSpPr>
        <p:grpSpPr>
          <a:xfrm>
            <a:off x="1767304" y="832620"/>
            <a:ext cx="7171110" cy="166202"/>
            <a:chOff x="1767304" y="832620"/>
            <a:chExt cx="7171110" cy="166202"/>
          </a:xfrm>
        </p:grpSpPr>
        <p:sp>
          <p:nvSpPr>
            <p:cNvPr id="380" name="Google Shape;380;g3cc18135147_3_173"/>
            <p:cNvSpPr/>
            <p:nvPr/>
          </p:nvSpPr>
          <p:spPr>
            <a:xfrm>
              <a:off x="1767304" y="832622"/>
              <a:ext cx="4240500" cy="1662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2025年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1" name="Google Shape;381;g3cc18135147_3_173"/>
            <p:cNvSpPr/>
            <p:nvPr/>
          </p:nvSpPr>
          <p:spPr>
            <a:xfrm>
              <a:off x="6026314" y="832620"/>
              <a:ext cx="2912100" cy="1662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2026年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82" name="Google Shape;382;g3cc18135147_3_173"/>
          <p:cNvGrpSpPr/>
          <p:nvPr/>
        </p:nvGrpSpPr>
        <p:grpSpPr>
          <a:xfrm>
            <a:off x="4524942" y="1431782"/>
            <a:ext cx="3910528" cy="355159"/>
            <a:chOff x="4536216" y="1395138"/>
            <a:chExt cx="3827097" cy="338150"/>
          </a:xfrm>
        </p:grpSpPr>
        <p:sp>
          <p:nvSpPr>
            <p:cNvPr id="383" name="Google Shape;383;g3cc18135147_3_173"/>
            <p:cNvSpPr/>
            <p:nvPr/>
          </p:nvSpPr>
          <p:spPr>
            <a:xfrm>
              <a:off x="6273975" y="1395138"/>
              <a:ext cx="8997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212121"/>
                  </a:solidFill>
                  <a:latin typeface="Meiryo"/>
                  <a:ea typeface="Meiryo"/>
                  <a:cs typeface="Meiryo"/>
                  <a:sym typeface="Meiryo"/>
                </a:rPr>
                <a:t>仮リリース▼</a:t>
              </a:r>
              <a:endParaRPr b="0" i="0" sz="8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4" name="Google Shape;384;g3cc18135147_3_173"/>
            <p:cNvSpPr/>
            <p:nvPr/>
          </p:nvSpPr>
          <p:spPr>
            <a:xfrm>
              <a:off x="6908013" y="1574288"/>
              <a:ext cx="14553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212121"/>
                  </a:solidFill>
                  <a:latin typeface="Meiryo"/>
                  <a:ea typeface="Meiryo"/>
                  <a:cs typeface="Meiryo"/>
                  <a:sym typeface="Meiryo"/>
                </a:rPr>
                <a:t>β版リリース▼</a:t>
              </a:r>
              <a:endParaRPr b="0" i="0" sz="8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5" name="Google Shape;385;g3cc18135147_3_173"/>
            <p:cNvSpPr/>
            <p:nvPr/>
          </p:nvSpPr>
          <p:spPr>
            <a:xfrm>
              <a:off x="4536216" y="1574288"/>
              <a:ext cx="14553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212121"/>
                  </a:solidFill>
                  <a:latin typeface="Meiryo"/>
                  <a:ea typeface="Meiryo"/>
                  <a:cs typeface="Meiryo"/>
                  <a:sym typeface="Meiryo"/>
                </a:rPr>
                <a:t>法務懸念解消▼</a:t>
              </a:r>
              <a:endParaRPr b="0" i="0" sz="8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6" name="Google Shape;386;g3cc18135147_3_173"/>
            <p:cNvSpPr/>
            <p:nvPr/>
          </p:nvSpPr>
          <p:spPr>
            <a:xfrm>
              <a:off x="5087772" y="1395138"/>
              <a:ext cx="8997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212121"/>
                  </a:solidFill>
                  <a:latin typeface="Meiryo"/>
                  <a:ea typeface="Meiryo"/>
                  <a:cs typeface="Meiryo"/>
                  <a:sym typeface="Meiryo"/>
                </a:rPr>
                <a:t>団体渉外完了▼</a:t>
              </a:r>
              <a:endParaRPr b="0" i="0" sz="800" u="none" cap="none" strike="noStrike">
                <a:solidFill>
                  <a:srgbClr val="21212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87" name="Google Shape;387;g3cc18135147_3_173"/>
          <p:cNvGrpSpPr/>
          <p:nvPr/>
        </p:nvGrpSpPr>
        <p:grpSpPr>
          <a:xfrm>
            <a:off x="1778237" y="1218739"/>
            <a:ext cx="6656825" cy="170100"/>
            <a:chOff x="1778237" y="1218739"/>
            <a:chExt cx="6656825" cy="170100"/>
          </a:xfrm>
        </p:grpSpPr>
        <p:sp>
          <p:nvSpPr>
            <p:cNvPr id="388" name="Google Shape;388;g3cc18135147_3_173"/>
            <p:cNvSpPr/>
            <p:nvPr/>
          </p:nvSpPr>
          <p:spPr>
            <a:xfrm>
              <a:off x="1778237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29~03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9" name="Google Shape;389;g3cc18135147_3_173"/>
            <p:cNvSpPr/>
            <p:nvPr/>
          </p:nvSpPr>
          <p:spPr>
            <a:xfrm>
              <a:off x="2081672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06~10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0" name="Google Shape;390;g3cc18135147_3_173"/>
            <p:cNvSpPr/>
            <p:nvPr/>
          </p:nvSpPr>
          <p:spPr>
            <a:xfrm>
              <a:off x="2385106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13~17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1" name="Google Shape;391;g3cc18135147_3_173"/>
            <p:cNvSpPr/>
            <p:nvPr/>
          </p:nvSpPr>
          <p:spPr>
            <a:xfrm>
              <a:off x="2688541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20~24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2" name="Google Shape;392;g3cc18135147_3_173"/>
            <p:cNvSpPr/>
            <p:nvPr/>
          </p:nvSpPr>
          <p:spPr>
            <a:xfrm>
              <a:off x="2991976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27~31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3" name="Google Shape;393;g3cc18135147_3_173"/>
            <p:cNvSpPr/>
            <p:nvPr/>
          </p:nvSpPr>
          <p:spPr>
            <a:xfrm>
              <a:off x="3295411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03~07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4" name="Google Shape;394;g3cc18135147_3_173"/>
            <p:cNvSpPr/>
            <p:nvPr/>
          </p:nvSpPr>
          <p:spPr>
            <a:xfrm>
              <a:off x="3598846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10~14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5" name="Google Shape;395;g3cc18135147_3_173"/>
            <p:cNvSpPr/>
            <p:nvPr/>
          </p:nvSpPr>
          <p:spPr>
            <a:xfrm>
              <a:off x="3902280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17~21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6" name="Google Shape;396;g3cc18135147_3_173"/>
            <p:cNvSpPr/>
            <p:nvPr/>
          </p:nvSpPr>
          <p:spPr>
            <a:xfrm>
              <a:off x="4205715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24~28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7" name="Google Shape;397;g3cc18135147_3_173"/>
            <p:cNvSpPr/>
            <p:nvPr/>
          </p:nvSpPr>
          <p:spPr>
            <a:xfrm>
              <a:off x="4509150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01~05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8" name="Google Shape;398;g3cc18135147_3_173"/>
            <p:cNvSpPr/>
            <p:nvPr/>
          </p:nvSpPr>
          <p:spPr>
            <a:xfrm>
              <a:off x="4812585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08~12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9" name="Google Shape;399;g3cc18135147_3_173"/>
            <p:cNvSpPr/>
            <p:nvPr/>
          </p:nvSpPr>
          <p:spPr>
            <a:xfrm>
              <a:off x="5116019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15~19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0" name="Google Shape;400;g3cc18135147_3_173"/>
            <p:cNvSpPr/>
            <p:nvPr/>
          </p:nvSpPr>
          <p:spPr>
            <a:xfrm>
              <a:off x="5419454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22~26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1" name="Google Shape;401;g3cc18135147_3_173"/>
            <p:cNvSpPr/>
            <p:nvPr/>
          </p:nvSpPr>
          <p:spPr>
            <a:xfrm>
              <a:off x="5722889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29~02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2" name="Google Shape;402;g3cc18135147_3_173"/>
            <p:cNvSpPr/>
            <p:nvPr/>
          </p:nvSpPr>
          <p:spPr>
            <a:xfrm>
              <a:off x="6026324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05~09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3" name="Google Shape;403;g3cc18135147_3_173"/>
            <p:cNvSpPr/>
            <p:nvPr/>
          </p:nvSpPr>
          <p:spPr>
            <a:xfrm>
              <a:off x="6329759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12~16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4" name="Google Shape;404;g3cc18135147_3_173"/>
            <p:cNvSpPr/>
            <p:nvPr/>
          </p:nvSpPr>
          <p:spPr>
            <a:xfrm>
              <a:off x="6633193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19~23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5" name="Google Shape;405;g3cc18135147_3_173"/>
            <p:cNvSpPr/>
            <p:nvPr/>
          </p:nvSpPr>
          <p:spPr>
            <a:xfrm>
              <a:off x="6936628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26~30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6" name="Google Shape;406;g3cc18135147_3_173"/>
            <p:cNvSpPr/>
            <p:nvPr/>
          </p:nvSpPr>
          <p:spPr>
            <a:xfrm>
              <a:off x="7240063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02~06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7" name="Google Shape;407;g3cc18135147_3_173"/>
            <p:cNvSpPr/>
            <p:nvPr/>
          </p:nvSpPr>
          <p:spPr>
            <a:xfrm>
              <a:off x="7543498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09~13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8" name="Google Shape;408;g3cc18135147_3_173"/>
            <p:cNvSpPr/>
            <p:nvPr/>
          </p:nvSpPr>
          <p:spPr>
            <a:xfrm>
              <a:off x="7846933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16~20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9" name="Google Shape;409;g3cc18135147_3_173"/>
            <p:cNvSpPr/>
            <p:nvPr/>
          </p:nvSpPr>
          <p:spPr>
            <a:xfrm>
              <a:off x="8150362" y="1218739"/>
              <a:ext cx="2847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5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23~27</a:t>
              </a:r>
              <a:endParaRPr b="1" i="0" sz="5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410" name="Google Shape;410;g3cc18135147_3_173"/>
          <p:cNvSpPr/>
          <p:nvPr/>
        </p:nvSpPr>
        <p:spPr>
          <a:xfrm>
            <a:off x="8453791" y="1019713"/>
            <a:ext cx="484500" cy="369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XX月~</a:t>
            </a:r>
            <a:endParaRPr b="1" i="0" sz="10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411" name="Google Shape;411;g3cc18135147_3_173"/>
          <p:cNvGrpSpPr/>
          <p:nvPr/>
        </p:nvGrpSpPr>
        <p:grpSpPr>
          <a:xfrm>
            <a:off x="1774696" y="1023633"/>
            <a:ext cx="6660551" cy="170100"/>
            <a:chOff x="1774696" y="1020389"/>
            <a:chExt cx="6660551" cy="170100"/>
          </a:xfrm>
        </p:grpSpPr>
        <p:sp>
          <p:nvSpPr>
            <p:cNvPr id="412" name="Google Shape;412;g3cc18135147_3_173"/>
            <p:cNvSpPr/>
            <p:nvPr/>
          </p:nvSpPr>
          <p:spPr>
            <a:xfrm>
              <a:off x="1774696" y="1020389"/>
              <a:ext cx="15021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10月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3" name="Google Shape;413;g3cc18135147_3_173"/>
            <p:cNvSpPr/>
            <p:nvPr/>
          </p:nvSpPr>
          <p:spPr>
            <a:xfrm>
              <a:off x="3295405" y="1020389"/>
              <a:ext cx="11952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11月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4" name="Google Shape;414;g3cc18135147_3_173"/>
            <p:cNvSpPr/>
            <p:nvPr/>
          </p:nvSpPr>
          <p:spPr>
            <a:xfrm>
              <a:off x="4509139" y="1020389"/>
              <a:ext cx="14985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12月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5" name="Google Shape;415;g3cc18135147_3_173"/>
            <p:cNvSpPr/>
            <p:nvPr/>
          </p:nvSpPr>
          <p:spPr>
            <a:xfrm>
              <a:off x="6026314" y="1020389"/>
              <a:ext cx="11952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01月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6" name="Google Shape;416;g3cc18135147_3_173"/>
            <p:cNvSpPr/>
            <p:nvPr/>
          </p:nvSpPr>
          <p:spPr>
            <a:xfrm>
              <a:off x="7240047" y="1020389"/>
              <a:ext cx="1195200" cy="170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XX月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417" name="Google Shape;417;g3cc18135147_3_173"/>
          <p:cNvSpPr txBox="1"/>
          <p:nvPr/>
        </p:nvSpPr>
        <p:spPr>
          <a:xfrm>
            <a:off x="6760025" y="4811100"/>
            <a:ext cx="21405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※詳細タスクはXXXツールボードで管理</a:t>
            </a:r>
            <a:r>
              <a:rPr b="0" i="0" lang="en-US" sz="800" u="sng" cap="none" strike="noStrik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/>
            </a:r>
            <a:r>
              <a:rPr b="0" i="0" lang="en-US" sz="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endParaRPr b="0" i="0" sz="8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418" name="Google Shape;418;g3cc18135147_3_173"/>
          <p:cNvGrpSpPr/>
          <p:nvPr/>
        </p:nvGrpSpPr>
        <p:grpSpPr>
          <a:xfrm>
            <a:off x="203248" y="1817777"/>
            <a:ext cx="8735166" cy="2993360"/>
            <a:chOff x="203248" y="1817761"/>
            <a:chExt cx="8735166" cy="2338197"/>
          </a:xfrm>
        </p:grpSpPr>
        <p:cxnSp>
          <p:nvCxnSpPr>
            <p:cNvPr id="419" name="Google Shape;419;g3cc18135147_3_173"/>
            <p:cNvCxnSpPr/>
            <p:nvPr/>
          </p:nvCxnSpPr>
          <p:spPr>
            <a:xfrm>
              <a:off x="220224" y="3569414"/>
              <a:ext cx="8680200" cy="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420" name="Google Shape;420;g3cc18135147_3_173"/>
            <p:cNvSpPr/>
            <p:nvPr/>
          </p:nvSpPr>
          <p:spPr>
            <a:xfrm>
              <a:off x="205587" y="1832694"/>
              <a:ext cx="1522200" cy="548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79125" lIns="79125" spcFirstLastPara="1" rIns="79125" wrap="square" tIns="791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ロジ・体制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1" name="Google Shape;421;g3cc18135147_3_173"/>
            <p:cNvSpPr/>
            <p:nvPr/>
          </p:nvSpPr>
          <p:spPr>
            <a:xfrm>
              <a:off x="205587" y="2418888"/>
              <a:ext cx="1522200" cy="548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79125" lIns="79125" spcFirstLastPara="1" rIns="79125" wrap="square" tIns="791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開発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2" name="Google Shape;422;g3cc18135147_3_173"/>
            <p:cNvSpPr/>
            <p:nvPr/>
          </p:nvSpPr>
          <p:spPr>
            <a:xfrm>
              <a:off x="203248" y="3003920"/>
              <a:ext cx="1524600" cy="548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79125" lIns="79125" spcFirstLastPara="1" rIns="79125" wrap="square" tIns="791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渉外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3" name="Google Shape;423;g3cc18135147_3_173"/>
            <p:cNvSpPr/>
            <p:nvPr/>
          </p:nvSpPr>
          <p:spPr>
            <a:xfrm>
              <a:off x="205587" y="3588952"/>
              <a:ext cx="1522200" cy="548400"/>
            </a:xfrm>
            <a:prstGeom prst="rect">
              <a:avLst/>
            </a:prstGeom>
            <a:solidFill>
              <a:srgbClr val="0055FF"/>
            </a:solidFill>
            <a:ln>
              <a:noFill/>
            </a:ln>
          </p:spPr>
          <p:txBody>
            <a:bodyPr anchorCtr="0" anchor="ctr" bIns="79125" lIns="79125" spcFirstLastPara="1" rIns="79125" wrap="square" tIns="791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プロモーション</a:t>
              </a:r>
              <a:endParaRPr b="1" i="0" sz="1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4" name="Google Shape;424;g3cc18135147_3_173"/>
            <p:cNvSpPr/>
            <p:nvPr/>
          </p:nvSpPr>
          <p:spPr>
            <a:xfrm>
              <a:off x="1767306" y="1832693"/>
              <a:ext cx="599100" cy="2682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ロジ設定</a:t>
              </a:r>
              <a:endParaRPr b="0" i="0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5" name="Google Shape;425;g3cc18135147_3_173"/>
            <p:cNvSpPr/>
            <p:nvPr/>
          </p:nvSpPr>
          <p:spPr>
            <a:xfrm>
              <a:off x="1767305" y="2119864"/>
              <a:ext cx="15048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役割分担/業務フロー/体制図策定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cc18135147_3_173"/>
            <p:cNvSpPr/>
            <p:nvPr/>
          </p:nvSpPr>
          <p:spPr>
            <a:xfrm>
              <a:off x="6026314" y="3289202"/>
              <a:ext cx="29121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パートナー渉外（継続対応）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cc18135147_3_173"/>
            <p:cNvSpPr/>
            <p:nvPr/>
          </p:nvSpPr>
          <p:spPr>
            <a:xfrm>
              <a:off x="7240080" y="3591726"/>
              <a:ext cx="1698300" cy="5457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準備</a:t>
              </a:r>
              <a:endParaRPr b="0" i="0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（4月より始動）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" name="Google Shape;428;g3cc18135147_3_173"/>
            <p:cNvCxnSpPr/>
            <p:nvPr/>
          </p:nvCxnSpPr>
          <p:spPr>
            <a:xfrm>
              <a:off x="220224" y="2980615"/>
              <a:ext cx="8680200" cy="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g3cc18135147_3_173"/>
            <p:cNvCxnSpPr/>
            <p:nvPr/>
          </p:nvCxnSpPr>
          <p:spPr>
            <a:xfrm>
              <a:off x="220224" y="2399621"/>
              <a:ext cx="8680200" cy="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30" name="Google Shape;430;g3cc18135147_3_173"/>
            <p:cNvCxnSpPr/>
            <p:nvPr/>
          </p:nvCxnSpPr>
          <p:spPr>
            <a:xfrm>
              <a:off x="220224" y="1817761"/>
              <a:ext cx="8680200" cy="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31" name="Google Shape;431;g3cc18135147_3_173"/>
            <p:cNvCxnSpPr/>
            <p:nvPr/>
          </p:nvCxnSpPr>
          <p:spPr>
            <a:xfrm>
              <a:off x="220224" y="4155958"/>
              <a:ext cx="8680200" cy="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432" name="Google Shape;432;g3cc18135147_3_173"/>
            <p:cNvSpPr/>
            <p:nvPr/>
          </p:nvSpPr>
          <p:spPr>
            <a:xfrm>
              <a:off x="2385105" y="1833898"/>
              <a:ext cx="65532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リスク管理（継続対応）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cc18135147_3_173"/>
            <p:cNvSpPr/>
            <p:nvPr/>
          </p:nvSpPr>
          <p:spPr>
            <a:xfrm>
              <a:off x="3295405" y="2114594"/>
              <a:ext cx="27123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TD/FC契約締結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cc18135147_3_173"/>
            <p:cNvSpPr/>
            <p:nvPr/>
          </p:nvSpPr>
          <p:spPr>
            <a:xfrm>
              <a:off x="1767304" y="3003920"/>
              <a:ext cx="42405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団体渉外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cc18135147_3_173"/>
            <p:cNvSpPr/>
            <p:nvPr/>
          </p:nvSpPr>
          <p:spPr>
            <a:xfrm>
              <a:off x="1767304" y="2423507"/>
              <a:ext cx="33300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【Phase0】企画・仕様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cc18135147_3_173"/>
            <p:cNvSpPr/>
            <p:nvPr/>
          </p:nvSpPr>
          <p:spPr>
            <a:xfrm>
              <a:off x="3295405" y="2702881"/>
              <a:ext cx="24087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【Phase0】設計・開発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cc18135147_3_173"/>
            <p:cNvSpPr/>
            <p:nvPr/>
          </p:nvSpPr>
          <p:spPr>
            <a:xfrm>
              <a:off x="5722889" y="2708113"/>
              <a:ext cx="1498500" cy="2631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【Phase0】テスト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cc18135147_3_173"/>
            <p:cNvSpPr/>
            <p:nvPr/>
          </p:nvSpPr>
          <p:spPr>
            <a:xfrm>
              <a:off x="7240048" y="2428877"/>
              <a:ext cx="1195200" cy="542400"/>
            </a:xfrm>
            <a:prstGeom prst="homePlate">
              <a:avLst>
                <a:gd fmla="val 28461" name="adj"/>
              </a:avLst>
            </a:prstGeom>
            <a:solidFill>
              <a:srgbClr val="D3E2FF"/>
            </a:solidFill>
            <a:ln>
              <a:noFill/>
            </a:ln>
          </p:spPr>
          <p:txBody>
            <a:bodyPr anchorCtr="0" anchor="ctr" bIns="34275" lIns="36000" spcFirstLastPara="1" rIns="3600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【Phase1】開発</a:t>
              </a:r>
              <a:endParaRPr b="0" i="0" sz="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（アジャイル）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cc18135147_3_173"/>
            <p:cNvSpPr/>
            <p:nvPr/>
          </p:nvSpPr>
          <p:spPr>
            <a:xfrm>
              <a:off x="5722889" y="1832280"/>
              <a:ext cx="284700" cy="2305200"/>
            </a:xfrm>
            <a:prstGeom prst="rect">
              <a:avLst/>
            </a:prstGeom>
            <a:solidFill>
              <a:srgbClr val="434343">
                <a:alpha val="49019"/>
              </a:srgbClr>
            </a:solidFill>
            <a:ln cap="flat" cmpd="sng" w="9525">
              <a:solidFill>
                <a:srgbClr val="434343">
                  <a:alpha val="4901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rPr>
                <a:t>年末年始</a:t>
              </a:r>
              <a:endParaRPr b="1" i="0" sz="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cxnSp>
        <p:nvCxnSpPr>
          <p:cNvPr id="440" name="Google Shape;440;g3cc18135147_3_173"/>
          <p:cNvCxnSpPr/>
          <p:nvPr/>
        </p:nvCxnSpPr>
        <p:spPr>
          <a:xfrm>
            <a:off x="8282593" y="1537111"/>
            <a:ext cx="0" cy="3370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採用ピッチ">
  <a:themeElements>
    <a:clrScheme name="Office">
      <a:dk1>
        <a:srgbClr val="434343"/>
      </a:dk1>
      <a:lt1>
        <a:srgbClr val="FFFFFF"/>
      </a:lt1>
      <a:dk2>
        <a:srgbClr val="0055FF"/>
      </a:dk2>
      <a:lt2>
        <a:srgbClr val="666666"/>
      </a:lt2>
      <a:accent1>
        <a:srgbClr val="D9D9D9"/>
      </a:accent1>
      <a:accent2>
        <a:srgbClr val="F3F3F3"/>
      </a:accent2>
      <a:accent3>
        <a:srgbClr val="80AAFF"/>
      </a:accent3>
      <a:accent4>
        <a:srgbClr val="A7C5FF"/>
      </a:accent4>
      <a:accent5>
        <a:srgbClr val="D3E2FF"/>
      </a:accent5>
      <a:accent6>
        <a:srgbClr val="F2F7FF"/>
      </a:accent6>
      <a:hlink>
        <a:srgbClr val="EFEFE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