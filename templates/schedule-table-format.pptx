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12188950"/>
  <p:notesSz cx="6858000" cy="121889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A1pDnAcKb+rGZR9aDbVM3/AlB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542C36-F970-40BB-A785-E36AA7705094}">
  <a:tblStyle styleId="{53542C36-F970-40BB-A785-E36AA770509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27432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eiryo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  <a:t>〇〇プロジェクト — スケジュール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74320" y="457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Meiryo"/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Meiryo"/>
                <a:ea typeface="Meiryo"/>
                <a:cs typeface="Meiryo"/>
                <a:sym typeface="Meiryo"/>
              </a:rPr>
              <a:t>20XX年X月〜X月 | 〇〇業務の標準フロー策定・全国展開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74320" y="685800"/>
            <a:ext cx="11612880" cy="22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Meiryo"/>
              <a:buNone/>
            </a:pPr>
            <a:r>
              <a:rPr b="1" i="0" lang="en-US" sz="8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  <a:t>ゴール: 〇〇の一気通貫でデータの一貫性が保たれる業務運用の実現</a:t>
            </a:r>
            <a:r>
              <a:rPr b="0" i="0" lang="en-US" sz="8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858000" y="1371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Meiryo"/>
              <a:buNone/>
            </a:pPr>
            <a:r>
              <a:rPr b="1" i="0" lang="en-US" sz="8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  <a:t>凡例: ■ 実施期間  ★ 月末報告  グレー列 = GW(X/X週)</a:t>
            </a:r>
            <a:r>
              <a:rPr b="1" i="0" lang="en-US" sz="800" u="none" cap="none" strike="noStrike">
                <a:solidFill>
                  <a:srgbClr val="C05621"/>
                </a:solidFill>
                <a:latin typeface="Meiryo"/>
                <a:ea typeface="Meiryo"/>
                <a:cs typeface="Meiryo"/>
                <a:sym typeface="Meiryo"/>
              </a:rPr>
              <a:t/>
            </a:r>
            <a:r>
              <a:rPr b="0" i="0" lang="en-US" sz="8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  <a:t/>
            </a:r>
            <a:r>
              <a:rPr b="1" i="0" lang="en-US" sz="8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  <a:t/>
            </a:r>
            <a:r>
              <a:rPr b="0" i="0" lang="en-US" sz="8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  <a:t/>
            </a:r>
            <a:r>
              <a:rPr b="0" i="1" lang="en-US" sz="700" u="none" cap="none" strike="noStrike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" name="Google Shape;20;p2"/>
          <p:cNvGraphicFramePr/>
          <p:nvPr/>
        </p:nvGraphicFramePr>
        <p:xfrm>
          <a:off x="27432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{53542C36-F970-40BB-A785-E36AA7705094}</a:tableStyleId>
              </a:tblPr>
              <a:tblGrid>
                <a:gridCol w="320050"/>
                <a:gridCol w="2743200"/>
                <a:gridCol w="731525"/>
                <a:gridCol w="521200"/>
                <a:gridCol w="521200"/>
                <a:gridCol w="521200"/>
                <a:gridCol w="521200"/>
                <a:gridCol w="521200"/>
                <a:gridCol w="521200"/>
                <a:gridCol w="521200"/>
                <a:gridCol w="521200"/>
                <a:gridCol w="521200"/>
                <a:gridCol w="521200"/>
                <a:gridCol w="521200"/>
                <a:gridCol w="521200"/>
                <a:gridCol w="521200"/>
                <a:gridCol w="521200"/>
                <a:gridCol w="5212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00"/>
                        <a:buFont typeface="Meiryo"/>
                        <a:buNone/>
                      </a:pPr>
                      <a:r>
                        <a:rPr b="1" lang="en-US" sz="6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#</a:t>
                      </a:r>
                      <a:endParaRPr sz="6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00"/>
                        <a:buFont typeface="Meiryo"/>
                        <a:buNone/>
                      </a:pPr>
                      <a:r>
                        <a:rPr b="1" lang="en-US" sz="6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実施事項</a:t>
                      </a:r>
                      <a:endParaRPr sz="6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アプローチ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W1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W2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W3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W4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W5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W6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W7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9999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99999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W8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W9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W10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W11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W12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W13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W14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W15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既存資料の読み込み・整理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現状把握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クライアントヒアリング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現状把握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基幹システム検証環境での仕様確認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現状把握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拠点別As-Is業務フロー図の作成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現状把握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主要拠点ベースTo-Be策定（ドラフト）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フロー策定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Calibri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b="1"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★ X月末（現状把握+ドラフト完了）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報告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00"/>
                        <a:buFont typeface="Meiryo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★</a:t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6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システム改修事項の整理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フロー策定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主要拠点訪問（営業同行・現場確認）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拠点ヒアリング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8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他拠点ヒアリング（〇〇・〇〇等）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拠点ヒアリング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9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フィードバック反映・フロー修正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拠点ヒアリング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Calibri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b="1"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★ X月末（標準フロー確定）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報告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00"/>
                        <a:buFont typeface="Meiryo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★</a:t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10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営業・営業推進向けマニュアル作成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拠点展開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11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パイロット展開（主要拠点）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拠点展開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Calibri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b="1"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★ X月末（パイロット展開完了）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報告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00"/>
                        <a:buFont typeface="Meiryo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★</a:t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12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他拠点への順次展開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拠点展開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13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定着度モニタリング・改善提案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定着支援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621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Calibri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b="1"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★ X月末（導入定着状況共有）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報告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00"/>
                        <a:buFont typeface="Meiryo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★</a:t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1" name="Google Shape;21;p2"/>
          <p:cNvCxnSpPr/>
          <p:nvPr/>
        </p:nvCxnSpPr>
        <p:spPr>
          <a:xfrm>
            <a:off x="4846330" y="1005840"/>
            <a:ext cx="0" cy="442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2" name="Google Shape;22;p2"/>
          <p:cNvSpPr/>
          <p:nvPr/>
        </p:nvSpPr>
        <p:spPr>
          <a:xfrm>
            <a:off x="274320" y="5568696"/>
            <a:ext cx="1161288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Meiryo"/>
              <a:buNone/>
            </a:pPr>
            <a:r>
              <a:rPr b="1" i="0" lang="en-US" sz="8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  <a:t>マイルストーン（案）X月末: 現状把握+標準フロードラフト完了X月末: 標準フロー確定版（基幹システム調査・主要拠点訪問・ギャップ分析・クライアント合意）X月末: パイロット展開完了（主要拠点）X月末: 導入定着状況共有（中間報告会）</a:t>
            </a:r>
            <a:br>
              <a:rPr b="1" i="0" lang="en-US" sz="8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</a:br>
            <a:r>
              <a:rPr b="0" i="0" lang="en-US" sz="7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  <a:t/>
            </a:r>
            <a:br>
              <a:rPr b="0" i="0" lang="en-US" sz="7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</a:br>
            <a:r>
              <a:rPr b="0" i="0" lang="en-US" sz="7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  <a:t/>
            </a:r>
            <a:br>
              <a:rPr b="0" i="0" lang="en-US" sz="7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</a:br>
            <a:r>
              <a:rPr b="0" i="0" lang="en-US" sz="7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  <a:t/>
            </a:r>
            <a:br>
              <a:rPr b="0" i="0" lang="en-US" sz="7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</a:br>
            <a:r>
              <a:rPr b="0" i="0" lang="en-US" sz="7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274320" y="6385215"/>
            <a:ext cx="1161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Meiryo"/>
              <a:buNone/>
            </a:pPr>
            <a:r>
              <a:rPr b="0" i="1" lang="en-US" sz="600" u="none" cap="none" strike="noStrike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>※ YYMMDDヒアリング反映版。MM/DD定例でクライアントと擦り合わせ予定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274320" y="6492240"/>
            <a:ext cx="1161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Meiryo"/>
              <a:buNone/>
            </a:pPr>
            <a:r>
              <a:rPr b="0" i="1" lang="en-US" sz="600" u="none" cap="none" strike="noStrike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>XXコンサル | 〇〇社 DXプロジェクト | Confidential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"/>
          <p:cNvSpPr/>
          <p:nvPr/>
        </p:nvSpPr>
        <p:spPr>
          <a:xfrm>
            <a:off x="27432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eiryo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  <a:t>〇〇社 DXプロジェクト — 全体スケジュール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274320" y="4572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Meiryo"/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Meiryo"/>
                <a:ea typeface="Meiryo"/>
                <a:cs typeface="Meiryo"/>
                <a:sym typeface="Meiryo"/>
              </a:rPr>
              <a:t>20XX年X月〜X月 | テーマXに全リソース集中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858000" y="1371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Meiryo"/>
              <a:buNone/>
            </a:pPr>
            <a:r>
              <a:rPr b="1" i="0" lang="en-US" sz="8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  <a:t>凡例: ■ 実施期間  ★ 月末報告  グレー列 = GW(X/X週)</a:t>
            </a:r>
            <a:r>
              <a:rPr b="1" i="0" lang="en-US" sz="800" u="none" cap="none" strike="noStrike">
                <a:solidFill>
                  <a:srgbClr val="4472C4"/>
                </a:solidFill>
                <a:latin typeface="Meiryo"/>
                <a:ea typeface="Meiryo"/>
                <a:cs typeface="Meiryo"/>
                <a:sym typeface="Meiryo"/>
              </a:rPr>
              <a:t/>
            </a:r>
            <a:r>
              <a:rPr b="0" i="0" lang="en-US" sz="8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  <a:t/>
            </a:r>
            <a:r>
              <a:rPr b="1" i="0" lang="en-US" sz="8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  <a:t/>
            </a:r>
            <a:r>
              <a:rPr b="0" i="0" lang="en-US" sz="800" u="none" cap="none" strike="noStrike">
                <a:solidFill>
                  <a:srgbClr val="333333"/>
                </a:solidFill>
                <a:latin typeface="Meiryo"/>
                <a:ea typeface="Meiryo"/>
                <a:cs typeface="Meiryo"/>
                <a:sym typeface="Meiryo"/>
              </a:rPr>
              <a:t/>
            </a:r>
            <a:r>
              <a:rPr b="0" i="1" lang="en-US" sz="700" u="none" cap="none" strike="noStrike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" name="Google Shape;33;p1"/>
          <p:cNvGraphicFramePr/>
          <p:nvPr/>
        </p:nvGraphicFramePr>
        <p:xfrm>
          <a:off x="274320" y="777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{53542C36-F970-40BB-A785-E36AA7705094}</a:tableStyleId>
              </a:tblPr>
              <a:tblGrid>
                <a:gridCol w="320050"/>
                <a:gridCol w="2743200"/>
                <a:gridCol w="731525"/>
                <a:gridCol w="390900"/>
                <a:gridCol w="390900"/>
                <a:gridCol w="390900"/>
                <a:gridCol w="390900"/>
                <a:gridCol w="390900"/>
                <a:gridCol w="390900"/>
                <a:gridCol w="390900"/>
                <a:gridCol w="390900"/>
                <a:gridCol w="390900"/>
                <a:gridCol w="390900"/>
                <a:gridCol w="390900"/>
                <a:gridCol w="390900"/>
                <a:gridCol w="390900"/>
                <a:gridCol w="390900"/>
                <a:gridCol w="390900"/>
                <a:gridCol w="390900"/>
                <a:gridCol w="390900"/>
                <a:gridCol w="390900"/>
                <a:gridCol w="390900"/>
                <a:gridCol w="3909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00"/>
                        <a:buFont typeface="Meiryo"/>
                        <a:buNone/>
                      </a:pPr>
                      <a:r>
                        <a:rPr b="1" lang="en-US" sz="6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#</a:t>
                      </a:r>
                      <a:endParaRPr sz="6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00"/>
                        <a:buFont typeface="Meiryo"/>
                        <a:buNone/>
                      </a:pPr>
                      <a:r>
                        <a:rPr b="1" lang="en-US" sz="6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実施事項</a:t>
                      </a:r>
                      <a:endParaRPr sz="6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アプローチ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W1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W2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W3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W4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W5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W1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W2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W3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W4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W5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W6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W7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9999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99999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W8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W9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W10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W11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W12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W13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W14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W15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現状業務・システム構成の把握（ヒアリング実施）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現状整理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アーキテクチャ図の作成（全体フロー設計）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あるべき姿策定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〇〇サービス仕様・スケジュール確認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あるべき姿策定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データ項目の詳細定義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要件定義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クライアント確認事項の解消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要件定義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6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ダッシュボードPFの比較評価（複数候補）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要件定義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〇〇ツール技術確認の完了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要件定義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8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〇〇ツール表示差異の解決策設計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要件定義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Calibri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b="1"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★ X月末報告（要件定義 途中経過報告）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報告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00"/>
                        <a:buFont typeface="Meiryo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★</a:t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9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権限設計・運用方法の定義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要件定義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10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要件定義書の確定・クライアント合意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要件定義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Calibri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b="1"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★ X月末報告（要件定義完了・設計実装 着手）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報告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00"/>
                        <a:buFont typeface="Meiryo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★</a:t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11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データパイプラインの構築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設計・実装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12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〇〇ツール表示差異の解決実装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設計・実装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13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統合テストの完了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テスト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Calibri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b="1"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★ X月末報告（実装完了）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報告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00"/>
                        <a:buFont typeface="Meiryo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★</a:t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14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全拠点展開・フィードバック収集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展開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Calibri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b="1"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★ X月末報告（全拠点展開完了・FB収集中）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報告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00"/>
                        <a:buFont typeface="Meiryo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★</a:t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Meiryo"/>
                        <a:buNone/>
                      </a:pPr>
                      <a:r>
                        <a:rPr lang="en-US" sz="50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フィードバック改善の実施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定着化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Calibri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50"/>
                        <a:buFont typeface="Meiryo"/>
                        <a:buNone/>
                      </a:pPr>
                      <a:r>
                        <a:rPr b="1" lang="en-US" sz="5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★ X月末報告（中間報告会）</a:t>
                      </a:r>
                      <a:endParaRPr sz="5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50"/>
                        <a:buFont typeface="Meiryo"/>
                        <a:buNone/>
                      </a:pPr>
                      <a:r>
                        <a:rPr lang="en-US" sz="450" u="none" cap="none" strike="noStrik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報告</a:t>
                      </a:r>
                      <a:endParaRPr sz="45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00"/>
                        <a:buFont typeface="Meiryo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★</a:t>
                      </a:r>
                      <a:endParaRPr sz="700" u="none" cap="none" strike="noStrike"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34" name="Google Shape;34;p1"/>
          <p:cNvCxnSpPr/>
          <p:nvPr/>
        </p:nvCxnSpPr>
        <p:spPr>
          <a:xfrm>
            <a:off x="6616072" y="777240"/>
            <a:ext cx="0" cy="4983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5" name="Google Shape;35;p1"/>
          <p:cNvSpPr/>
          <p:nvPr/>
        </p:nvSpPr>
        <p:spPr>
          <a:xfrm>
            <a:off x="274320" y="6263640"/>
            <a:ext cx="1161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Meiryo"/>
              <a:buNone/>
            </a:pPr>
            <a:r>
              <a:rPr b="0" i="1" lang="en-US" sz="600" u="none" cap="none" strike="noStrike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>※ テーマXのスケジュール。YYMMDD定例で実装はクライアント内部対応に変更。XXコンサルは要件定義書を成果物として納品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274320" y="6492240"/>
            <a:ext cx="1161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Meiryo"/>
              <a:buNone/>
            </a:pPr>
            <a:r>
              <a:rPr b="0" i="1" lang="en-US" sz="600" u="none" cap="none" strike="noStrike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>XXコンサル | 〇〇社 DXプロジェクト | Confidential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6805400" y="777250"/>
            <a:ext cx="5081700" cy="4983600"/>
          </a:xfrm>
          <a:prstGeom prst="rect">
            <a:avLst/>
          </a:prstGeom>
          <a:solidFill>
            <a:srgbClr val="BFBFBF">
              <a:alpha val="51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2026-03-19T05:14:24Z</dcterms:created>
  <dc:creator>FLUX-G</dc:creator>
</cp:coreProperties>
</file>